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1309350" cx="20104100"/>
  <p:notesSz cx="20104100" cy="113093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ZdHFfFRWzRGpyPwX0Sch+/BrN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9962EB-FCA3-4A52-AB76-8A72CDE4A62A}">
  <a:tblStyle styleId="{039962EB-FCA3-4A52-AB76-8A72CDE4A6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538b34626_2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8538b34626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538b34626_2_14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8538b34626_2_14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662ab5b26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a662ab5b2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662ab5b26_0_39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a662ab5b26_0_39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b894c5047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9b894c504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b894c5047_0_2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9b894c5047_0_2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c0480607e_2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9c0480607e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c0480607e_2_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9c0480607e_2_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b894c504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9b894c50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b894c5047_0_5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9b894c5047_0_5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b894c5047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9b894c504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b894c5047_2_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9b894c5047_2_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662ab5b26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a662ab5b2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662ab5b26_0_2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a662ab5b26_0_2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9b894c5047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9b894c504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b894c5047_0_75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9b894c5047_0_75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138926" cy="11309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17"/>
          <p:cNvGrpSpPr/>
          <p:nvPr/>
        </p:nvGrpSpPr>
        <p:grpSpPr>
          <a:xfrm>
            <a:off x="8375650" y="10531475"/>
            <a:ext cx="3894979" cy="335915"/>
            <a:chOff x="8592670" y="10723202"/>
            <a:chExt cx="3894979" cy="335915"/>
          </a:xfrm>
        </p:grpSpPr>
        <p:sp>
          <p:nvSpPr>
            <p:cNvPr id="14" name="Google Shape;14;p17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7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7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7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7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7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7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7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7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3;p17"/>
          <p:cNvSpPr/>
          <p:nvPr/>
        </p:nvSpPr>
        <p:spPr>
          <a:xfrm>
            <a:off x="5092767" y="7254875"/>
            <a:ext cx="10694670" cy="53340"/>
          </a:xfrm>
          <a:custGeom>
            <a:rect b="b" l="l" r="r" t="t"/>
            <a:pathLst>
              <a:path extrusionOk="0" h="53340" w="10694669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7"/>
          <p:cNvSpPr/>
          <p:nvPr/>
        </p:nvSpPr>
        <p:spPr>
          <a:xfrm>
            <a:off x="5092767" y="6209204"/>
            <a:ext cx="10694670" cy="1045671"/>
          </a:xfrm>
          <a:custGeom>
            <a:rect b="b" l="l" r="r" t="t"/>
            <a:pathLst>
              <a:path extrusionOk="0" h="1025525" w="10694669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7"/>
          <p:cNvSpPr/>
          <p:nvPr/>
        </p:nvSpPr>
        <p:spPr>
          <a:xfrm>
            <a:off x="7815028" y="9029006"/>
            <a:ext cx="3477895" cy="864869"/>
          </a:xfrm>
          <a:custGeom>
            <a:rect b="b" l="l" r="r" t="t"/>
            <a:pathLst>
              <a:path extrusionOk="0" h="864870" w="3477895">
                <a:moveTo>
                  <a:pt x="743635" y="406793"/>
                </a:moveTo>
                <a:lnTo>
                  <a:pt x="740346" y="345351"/>
                </a:lnTo>
                <a:lnTo>
                  <a:pt x="730719" y="289318"/>
                </a:lnTo>
                <a:lnTo>
                  <a:pt x="715162" y="238620"/>
                </a:lnTo>
                <a:lnTo>
                  <a:pt x="694055" y="193154"/>
                </a:lnTo>
                <a:lnTo>
                  <a:pt x="667804" y="152844"/>
                </a:lnTo>
                <a:lnTo>
                  <a:pt x="636803" y="117602"/>
                </a:lnTo>
                <a:lnTo>
                  <a:pt x="601421" y="87325"/>
                </a:lnTo>
                <a:lnTo>
                  <a:pt x="565569" y="63233"/>
                </a:lnTo>
                <a:lnTo>
                  <a:pt x="542772" y="51714"/>
                </a:lnTo>
                <a:lnTo>
                  <a:pt x="542772" y="413016"/>
                </a:lnTo>
                <a:lnTo>
                  <a:pt x="539419" y="470103"/>
                </a:lnTo>
                <a:lnTo>
                  <a:pt x="529577" y="520890"/>
                </a:lnTo>
                <a:lnTo>
                  <a:pt x="513562" y="565442"/>
                </a:lnTo>
                <a:lnTo>
                  <a:pt x="491693" y="603796"/>
                </a:lnTo>
                <a:lnTo>
                  <a:pt x="464312" y="636041"/>
                </a:lnTo>
                <a:lnTo>
                  <a:pt x="431723" y="662216"/>
                </a:lnTo>
                <a:lnTo>
                  <a:pt x="394246" y="682383"/>
                </a:lnTo>
                <a:lnTo>
                  <a:pt x="352221" y="696620"/>
                </a:lnTo>
                <a:lnTo>
                  <a:pt x="305955" y="704964"/>
                </a:lnTo>
                <a:lnTo>
                  <a:pt x="255765" y="707478"/>
                </a:lnTo>
                <a:lnTo>
                  <a:pt x="238239" y="707415"/>
                </a:lnTo>
                <a:lnTo>
                  <a:pt x="220370" y="707009"/>
                </a:lnTo>
                <a:lnTo>
                  <a:pt x="203644" y="705891"/>
                </a:lnTo>
                <a:lnTo>
                  <a:pt x="189598" y="703707"/>
                </a:lnTo>
                <a:lnTo>
                  <a:pt x="189598" y="153466"/>
                </a:lnTo>
                <a:lnTo>
                  <a:pt x="204139" y="150698"/>
                </a:lnTo>
                <a:lnTo>
                  <a:pt x="223329" y="148285"/>
                </a:lnTo>
                <a:lnTo>
                  <a:pt x="247205" y="146583"/>
                </a:lnTo>
                <a:lnTo>
                  <a:pt x="275742" y="145935"/>
                </a:lnTo>
                <a:lnTo>
                  <a:pt x="328282" y="149136"/>
                </a:lnTo>
                <a:lnTo>
                  <a:pt x="375869" y="158788"/>
                </a:lnTo>
                <a:lnTo>
                  <a:pt x="418185" y="174967"/>
                </a:lnTo>
                <a:lnTo>
                  <a:pt x="454888" y="197739"/>
                </a:lnTo>
                <a:lnTo>
                  <a:pt x="485648" y="227177"/>
                </a:lnTo>
                <a:lnTo>
                  <a:pt x="510146" y="263347"/>
                </a:lnTo>
                <a:lnTo>
                  <a:pt x="528053" y="306336"/>
                </a:lnTo>
                <a:lnTo>
                  <a:pt x="539038" y="356196"/>
                </a:lnTo>
                <a:lnTo>
                  <a:pt x="542772" y="413016"/>
                </a:lnTo>
                <a:lnTo>
                  <a:pt x="542772" y="51714"/>
                </a:lnTo>
                <a:lnTo>
                  <a:pt x="482523" y="27292"/>
                </a:lnTo>
                <a:lnTo>
                  <a:pt x="434238" y="15125"/>
                </a:lnTo>
                <a:lnTo>
                  <a:pt x="380707" y="6616"/>
                </a:lnTo>
                <a:lnTo>
                  <a:pt x="321398" y="1625"/>
                </a:lnTo>
                <a:lnTo>
                  <a:pt x="255765" y="0"/>
                </a:lnTo>
                <a:lnTo>
                  <a:pt x="199453" y="749"/>
                </a:lnTo>
                <a:lnTo>
                  <a:pt x="144881" y="2997"/>
                </a:lnTo>
                <a:lnTo>
                  <a:pt x="92887" y="6743"/>
                </a:lnTo>
                <a:lnTo>
                  <a:pt x="44323" y="11976"/>
                </a:lnTo>
                <a:lnTo>
                  <a:pt x="0" y="18719"/>
                </a:lnTo>
                <a:lnTo>
                  <a:pt x="0" y="843470"/>
                </a:lnTo>
                <a:lnTo>
                  <a:pt x="39331" y="848067"/>
                </a:lnTo>
                <a:lnTo>
                  <a:pt x="88277" y="852055"/>
                </a:lnTo>
                <a:lnTo>
                  <a:pt x="147027" y="854887"/>
                </a:lnTo>
                <a:lnTo>
                  <a:pt x="215836" y="855954"/>
                </a:lnTo>
                <a:lnTo>
                  <a:pt x="276225" y="854316"/>
                </a:lnTo>
                <a:lnTo>
                  <a:pt x="333705" y="849350"/>
                </a:lnTo>
                <a:lnTo>
                  <a:pt x="388048" y="841019"/>
                </a:lnTo>
                <a:lnTo>
                  <a:pt x="439051" y="829284"/>
                </a:lnTo>
                <a:lnTo>
                  <a:pt x="486473" y="814108"/>
                </a:lnTo>
                <a:lnTo>
                  <a:pt x="530123" y="795426"/>
                </a:lnTo>
                <a:lnTo>
                  <a:pt x="569747" y="773214"/>
                </a:lnTo>
                <a:lnTo>
                  <a:pt x="605155" y="747420"/>
                </a:lnTo>
                <a:lnTo>
                  <a:pt x="634022" y="719683"/>
                </a:lnTo>
                <a:lnTo>
                  <a:pt x="644169" y="707478"/>
                </a:lnTo>
                <a:lnTo>
                  <a:pt x="660463" y="687882"/>
                </a:lnTo>
                <a:lnTo>
                  <a:pt x="684047" y="651916"/>
                </a:lnTo>
                <a:lnTo>
                  <a:pt x="704329" y="611720"/>
                </a:lnTo>
                <a:lnTo>
                  <a:pt x="720864" y="567194"/>
                </a:lnTo>
                <a:lnTo>
                  <a:pt x="733221" y="518261"/>
                </a:lnTo>
                <a:lnTo>
                  <a:pt x="740968" y="464820"/>
                </a:lnTo>
                <a:lnTo>
                  <a:pt x="743635" y="406793"/>
                </a:lnTo>
                <a:close/>
              </a:path>
              <a:path extrusionOk="0" h="864870" w="3477895">
                <a:moveTo>
                  <a:pt x="1394968" y="847204"/>
                </a:moveTo>
                <a:lnTo>
                  <a:pt x="1393126" y="806246"/>
                </a:lnTo>
                <a:lnTo>
                  <a:pt x="1391513" y="760018"/>
                </a:lnTo>
                <a:lnTo>
                  <a:pt x="1390370" y="708418"/>
                </a:lnTo>
                <a:lnTo>
                  <a:pt x="1389938" y="651319"/>
                </a:lnTo>
                <a:lnTo>
                  <a:pt x="1389938" y="237070"/>
                </a:lnTo>
                <a:lnTo>
                  <a:pt x="1200277" y="237070"/>
                </a:lnTo>
                <a:lnTo>
                  <a:pt x="1200277" y="600151"/>
                </a:lnTo>
                <a:lnTo>
                  <a:pt x="1199819" y="611860"/>
                </a:lnTo>
                <a:lnTo>
                  <a:pt x="1180630" y="664324"/>
                </a:lnTo>
                <a:lnTo>
                  <a:pt x="1133335" y="701357"/>
                </a:lnTo>
                <a:lnTo>
                  <a:pt x="1097978" y="707478"/>
                </a:lnTo>
                <a:lnTo>
                  <a:pt x="1054544" y="697712"/>
                </a:lnTo>
                <a:lnTo>
                  <a:pt x="1024686" y="669582"/>
                </a:lnTo>
                <a:lnTo>
                  <a:pt x="1007452" y="624840"/>
                </a:lnTo>
                <a:lnTo>
                  <a:pt x="1001915" y="565238"/>
                </a:lnTo>
                <a:lnTo>
                  <a:pt x="1001915" y="237070"/>
                </a:lnTo>
                <a:lnTo>
                  <a:pt x="812266" y="237070"/>
                </a:lnTo>
                <a:lnTo>
                  <a:pt x="812266" y="595160"/>
                </a:lnTo>
                <a:lnTo>
                  <a:pt x="816368" y="660679"/>
                </a:lnTo>
                <a:lnTo>
                  <a:pt x="828255" y="716178"/>
                </a:lnTo>
                <a:lnTo>
                  <a:pt x="847267" y="762063"/>
                </a:lnTo>
                <a:lnTo>
                  <a:pt x="872769" y="798715"/>
                </a:lnTo>
                <a:lnTo>
                  <a:pt x="904125" y="826541"/>
                </a:lnTo>
                <a:lnTo>
                  <a:pt x="940689" y="845921"/>
                </a:lnTo>
                <a:lnTo>
                  <a:pt x="981811" y="857275"/>
                </a:lnTo>
                <a:lnTo>
                  <a:pt x="1026845" y="860958"/>
                </a:lnTo>
                <a:lnTo>
                  <a:pt x="1086599" y="854176"/>
                </a:lnTo>
                <a:lnTo>
                  <a:pt x="1134656" y="836599"/>
                </a:lnTo>
                <a:lnTo>
                  <a:pt x="1171943" y="812444"/>
                </a:lnTo>
                <a:lnTo>
                  <a:pt x="1199349" y="785888"/>
                </a:lnTo>
                <a:lnTo>
                  <a:pt x="1217764" y="761123"/>
                </a:lnTo>
                <a:lnTo>
                  <a:pt x="1221486" y="761123"/>
                </a:lnTo>
                <a:lnTo>
                  <a:pt x="1230261" y="847204"/>
                </a:lnTo>
                <a:lnTo>
                  <a:pt x="1394968" y="847204"/>
                </a:lnTo>
                <a:close/>
              </a:path>
              <a:path extrusionOk="0" h="864870" w="3477895">
                <a:moveTo>
                  <a:pt x="2097112" y="536511"/>
                </a:moveTo>
                <a:lnTo>
                  <a:pt x="2094064" y="487603"/>
                </a:lnTo>
                <a:lnTo>
                  <a:pt x="2085124" y="441807"/>
                </a:lnTo>
                <a:lnTo>
                  <a:pt x="2070569" y="399427"/>
                </a:lnTo>
                <a:lnTo>
                  <a:pt x="2050681" y="360819"/>
                </a:lnTo>
                <a:lnTo>
                  <a:pt x="2049614" y="359359"/>
                </a:lnTo>
                <a:lnTo>
                  <a:pt x="2025751" y="326301"/>
                </a:lnTo>
                <a:lnTo>
                  <a:pt x="1996071" y="296202"/>
                </a:lnTo>
                <a:lnTo>
                  <a:pt x="1961934" y="270840"/>
                </a:lnTo>
                <a:lnTo>
                  <a:pt x="1923605" y="250532"/>
                </a:lnTo>
                <a:lnTo>
                  <a:pt x="1899958" y="242189"/>
                </a:lnTo>
                <a:lnTo>
                  <a:pt x="1899958" y="541528"/>
                </a:lnTo>
                <a:lnTo>
                  <a:pt x="1894560" y="602767"/>
                </a:lnTo>
                <a:lnTo>
                  <a:pt x="1878926" y="653516"/>
                </a:lnTo>
                <a:lnTo>
                  <a:pt x="1853895" y="691984"/>
                </a:lnTo>
                <a:lnTo>
                  <a:pt x="1820291" y="716381"/>
                </a:lnTo>
                <a:lnTo>
                  <a:pt x="1778939" y="724916"/>
                </a:lnTo>
                <a:lnTo>
                  <a:pt x="1777720" y="724916"/>
                </a:lnTo>
                <a:lnTo>
                  <a:pt x="1734197" y="715911"/>
                </a:lnTo>
                <a:lnTo>
                  <a:pt x="1699729" y="690626"/>
                </a:lnTo>
                <a:lnTo>
                  <a:pt x="1674660" y="651637"/>
                </a:lnTo>
                <a:lnTo>
                  <a:pt x="1659369" y="601484"/>
                </a:lnTo>
                <a:lnTo>
                  <a:pt x="1654187" y="542772"/>
                </a:lnTo>
                <a:lnTo>
                  <a:pt x="1657184" y="497560"/>
                </a:lnTo>
                <a:lnTo>
                  <a:pt x="1666570" y="454748"/>
                </a:lnTo>
                <a:lnTo>
                  <a:pt x="1682877" y="416915"/>
                </a:lnTo>
                <a:lnTo>
                  <a:pt x="1706676" y="386676"/>
                </a:lnTo>
                <a:lnTo>
                  <a:pt x="1778939" y="359359"/>
                </a:lnTo>
                <a:lnTo>
                  <a:pt x="1824596" y="369684"/>
                </a:lnTo>
                <a:lnTo>
                  <a:pt x="1858733" y="397611"/>
                </a:lnTo>
                <a:lnTo>
                  <a:pt x="1882152" y="438594"/>
                </a:lnTo>
                <a:lnTo>
                  <a:pt x="1895640" y="488086"/>
                </a:lnTo>
                <a:lnTo>
                  <a:pt x="1899958" y="541528"/>
                </a:lnTo>
                <a:lnTo>
                  <a:pt x="1899958" y="242189"/>
                </a:lnTo>
                <a:lnTo>
                  <a:pt x="1881390" y="235635"/>
                </a:lnTo>
                <a:lnTo>
                  <a:pt x="1835569" y="226453"/>
                </a:lnTo>
                <a:lnTo>
                  <a:pt x="1786420" y="223316"/>
                </a:lnTo>
                <a:lnTo>
                  <a:pt x="1734375" y="226402"/>
                </a:lnTo>
                <a:lnTo>
                  <a:pt x="1685937" y="235483"/>
                </a:lnTo>
                <a:lnTo>
                  <a:pt x="1641424" y="250329"/>
                </a:lnTo>
                <a:lnTo>
                  <a:pt x="1601089" y="270675"/>
                </a:lnTo>
                <a:lnTo>
                  <a:pt x="1565224" y="296278"/>
                </a:lnTo>
                <a:lnTo>
                  <a:pt x="1534109" y="326898"/>
                </a:lnTo>
                <a:lnTo>
                  <a:pt x="1508010" y="362280"/>
                </a:lnTo>
                <a:lnTo>
                  <a:pt x="1487233" y="402170"/>
                </a:lnTo>
                <a:lnTo>
                  <a:pt x="1472044" y="446328"/>
                </a:lnTo>
                <a:lnTo>
                  <a:pt x="1462722" y="494512"/>
                </a:lnTo>
                <a:lnTo>
                  <a:pt x="1459547" y="546468"/>
                </a:lnTo>
                <a:lnTo>
                  <a:pt x="1462874" y="598233"/>
                </a:lnTo>
                <a:lnTo>
                  <a:pt x="1472590" y="645896"/>
                </a:lnTo>
                <a:lnTo>
                  <a:pt x="1488224" y="689216"/>
                </a:lnTo>
                <a:lnTo>
                  <a:pt x="1509369" y="728091"/>
                </a:lnTo>
                <a:lnTo>
                  <a:pt x="1535582" y="762330"/>
                </a:lnTo>
                <a:lnTo>
                  <a:pt x="1566443" y="791756"/>
                </a:lnTo>
                <a:lnTo>
                  <a:pt x="1601508" y="816216"/>
                </a:lnTo>
                <a:lnTo>
                  <a:pt x="1640344" y="835533"/>
                </a:lnTo>
                <a:lnTo>
                  <a:pt x="1682521" y="849541"/>
                </a:lnTo>
                <a:lnTo>
                  <a:pt x="1727619" y="858075"/>
                </a:lnTo>
                <a:lnTo>
                  <a:pt x="1775180" y="860958"/>
                </a:lnTo>
                <a:lnTo>
                  <a:pt x="1776425" y="860958"/>
                </a:lnTo>
                <a:lnTo>
                  <a:pt x="1820456" y="858405"/>
                </a:lnTo>
                <a:lnTo>
                  <a:pt x="1863610" y="850696"/>
                </a:lnTo>
                <a:lnTo>
                  <a:pt x="1905177" y="837768"/>
                </a:lnTo>
                <a:lnTo>
                  <a:pt x="1944458" y="819518"/>
                </a:lnTo>
                <a:lnTo>
                  <a:pt x="1980780" y="795896"/>
                </a:lnTo>
                <a:lnTo>
                  <a:pt x="2013419" y="766787"/>
                </a:lnTo>
                <a:lnTo>
                  <a:pt x="2041690" y="732142"/>
                </a:lnTo>
                <a:lnTo>
                  <a:pt x="2064893" y="691870"/>
                </a:lnTo>
                <a:lnTo>
                  <a:pt x="2082330" y="645871"/>
                </a:lnTo>
                <a:lnTo>
                  <a:pt x="2093302" y="594131"/>
                </a:lnTo>
                <a:lnTo>
                  <a:pt x="2097112" y="536511"/>
                </a:lnTo>
                <a:close/>
              </a:path>
              <a:path extrusionOk="0" h="864870" w="3477895">
                <a:moveTo>
                  <a:pt x="2656205" y="247065"/>
                </a:moveTo>
                <a:lnTo>
                  <a:pt x="2623756" y="237032"/>
                </a:lnTo>
                <a:lnTo>
                  <a:pt x="2587587" y="229565"/>
                </a:lnTo>
                <a:lnTo>
                  <a:pt x="2549537" y="224917"/>
                </a:lnTo>
                <a:lnTo>
                  <a:pt x="2511463" y="223316"/>
                </a:lnTo>
                <a:lnTo>
                  <a:pt x="2456891" y="226301"/>
                </a:lnTo>
                <a:lnTo>
                  <a:pt x="2406751" y="234962"/>
                </a:lnTo>
                <a:lnTo>
                  <a:pt x="2361095" y="248920"/>
                </a:lnTo>
                <a:lnTo>
                  <a:pt x="2319985" y="267779"/>
                </a:lnTo>
                <a:lnTo>
                  <a:pt x="2283485" y="291147"/>
                </a:lnTo>
                <a:lnTo>
                  <a:pt x="2251646" y="318617"/>
                </a:lnTo>
                <a:lnTo>
                  <a:pt x="2224557" y="349808"/>
                </a:lnTo>
                <a:lnTo>
                  <a:pt x="2202243" y="384327"/>
                </a:lnTo>
                <a:lnTo>
                  <a:pt x="2184781" y="421779"/>
                </a:lnTo>
                <a:lnTo>
                  <a:pt x="2172246" y="461759"/>
                </a:lnTo>
                <a:lnTo>
                  <a:pt x="2164664" y="503885"/>
                </a:lnTo>
                <a:lnTo>
                  <a:pt x="2162137" y="547763"/>
                </a:lnTo>
                <a:lnTo>
                  <a:pt x="2165210" y="598373"/>
                </a:lnTo>
                <a:lnTo>
                  <a:pt x="2174303" y="645236"/>
                </a:lnTo>
                <a:lnTo>
                  <a:pt x="2189137" y="688111"/>
                </a:lnTo>
                <a:lnTo>
                  <a:pt x="2209482" y="726795"/>
                </a:lnTo>
                <a:lnTo>
                  <a:pt x="2235085" y="761034"/>
                </a:lnTo>
                <a:lnTo>
                  <a:pt x="2265692" y="790625"/>
                </a:lnTo>
                <a:lnTo>
                  <a:pt x="2301075" y="815352"/>
                </a:lnTo>
                <a:lnTo>
                  <a:pt x="2340965" y="834961"/>
                </a:lnTo>
                <a:lnTo>
                  <a:pt x="2385123" y="849249"/>
                </a:lnTo>
                <a:lnTo>
                  <a:pt x="2433320" y="857986"/>
                </a:lnTo>
                <a:lnTo>
                  <a:pt x="2485275" y="860958"/>
                </a:lnTo>
                <a:lnTo>
                  <a:pt x="2537599" y="858761"/>
                </a:lnTo>
                <a:lnTo>
                  <a:pt x="2584640" y="852703"/>
                </a:lnTo>
                <a:lnTo>
                  <a:pt x="2624442" y="843597"/>
                </a:lnTo>
                <a:lnTo>
                  <a:pt x="2632506" y="692505"/>
                </a:lnTo>
                <a:lnTo>
                  <a:pt x="2609748" y="700887"/>
                </a:lnTo>
                <a:lnTo>
                  <a:pt x="2584310" y="707174"/>
                </a:lnTo>
                <a:lnTo>
                  <a:pt x="2555811" y="711098"/>
                </a:lnTo>
                <a:lnTo>
                  <a:pt x="2523909" y="712470"/>
                </a:lnTo>
                <a:lnTo>
                  <a:pt x="2479484" y="707517"/>
                </a:lnTo>
                <a:lnTo>
                  <a:pt x="2439555" y="692785"/>
                </a:lnTo>
                <a:lnTo>
                  <a:pt x="2405710" y="668489"/>
                </a:lnTo>
                <a:lnTo>
                  <a:pt x="2379548" y="634834"/>
                </a:lnTo>
                <a:lnTo>
                  <a:pt x="2362695" y="592023"/>
                </a:lnTo>
                <a:lnTo>
                  <a:pt x="2356713" y="540283"/>
                </a:lnTo>
                <a:lnTo>
                  <a:pt x="2361463" y="492950"/>
                </a:lnTo>
                <a:lnTo>
                  <a:pt x="2376360" y="451586"/>
                </a:lnTo>
                <a:lnTo>
                  <a:pt x="2400566" y="417360"/>
                </a:lnTo>
                <a:lnTo>
                  <a:pt x="2433180" y="391452"/>
                </a:lnTo>
                <a:lnTo>
                  <a:pt x="2473350" y="375043"/>
                </a:lnTo>
                <a:lnTo>
                  <a:pt x="2520213" y="369303"/>
                </a:lnTo>
                <a:lnTo>
                  <a:pt x="2554694" y="370827"/>
                </a:lnTo>
                <a:lnTo>
                  <a:pt x="2583548" y="374929"/>
                </a:lnTo>
                <a:lnTo>
                  <a:pt x="2607246" y="380911"/>
                </a:lnTo>
                <a:lnTo>
                  <a:pt x="2626271" y="388061"/>
                </a:lnTo>
                <a:lnTo>
                  <a:pt x="2656205" y="247065"/>
                </a:lnTo>
                <a:close/>
              </a:path>
              <a:path extrusionOk="0" h="864870" w="3477895">
                <a:moveTo>
                  <a:pt x="3477476" y="72466"/>
                </a:moveTo>
                <a:lnTo>
                  <a:pt x="3301720" y="72466"/>
                </a:lnTo>
                <a:lnTo>
                  <a:pt x="3301720" y="521081"/>
                </a:lnTo>
                <a:lnTo>
                  <a:pt x="3297517" y="583844"/>
                </a:lnTo>
                <a:lnTo>
                  <a:pt x="3285109" y="634695"/>
                </a:lnTo>
                <a:lnTo>
                  <a:pt x="3264738" y="673836"/>
                </a:lnTo>
                <a:lnTo>
                  <a:pt x="3236658" y="701522"/>
                </a:lnTo>
                <a:lnTo>
                  <a:pt x="3201111" y="717969"/>
                </a:lnTo>
                <a:lnTo>
                  <a:pt x="3158363" y="723404"/>
                </a:lnTo>
                <a:lnTo>
                  <a:pt x="3116605" y="717727"/>
                </a:lnTo>
                <a:lnTo>
                  <a:pt x="3081705" y="700760"/>
                </a:lnTo>
                <a:lnTo>
                  <a:pt x="3054019" y="672541"/>
                </a:lnTo>
                <a:lnTo>
                  <a:pt x="3033852" y="633145"/>
                </a:lnTo>
                <a:lnTo>
                  <a:pt x="3021507" y="582637"/>
                </a:lnTo>
                <a:lnTo>
                  <a:pt x="3017329" y="521081"/>
                </a:lnTo>
                <a:lnTo>
                  <a:pt x="3017329" y="72466"/>
                </a:lnTo>
                <a:lnTo>
                  <a:pt x="2840393" y="72466"/>
                </a:lnTo>
                <a:lnTo>
                  <a:pt x="2840393" y="507225"/>
                </a:lnTo>
                <a:lnTo>
                  <a:pt x="2842780" y="566483"/>
                </a:lnTo>
                <a:lnTo>
                  <a:pt x="2849867" y="620014"/>
                </a:lnTo>
                <a:lnTo>
                  <a:pt x="2861526" y="667931"/>
                </a:lnTo>
                <a:lnTo>
                  <a:pt x="2877655" y="710349"/>
                </a:lnTo>
                <a:lnTo>
                  <a:pt x="2898114" y="747369"/>
                </a:lnTo>
                <a:lnTo>
                  <a:pt x="2922778" y="779094"/>
                </a:lnTo>
                <a:lnTo>
                  <a:pt x="2951556" y="805637"/>
                </a:lnTo>
                <a:lnTo>
                  <a:pt x="2984296" y="827125"/>
                </a:lnTo>
                <a:lnTo>
                  <a:pt x="3020885" y="843635"/>
                </a:lnTo>
                <a:lnTo>
                  <a:pt x="3061220" y="855294"/>
                </a:lnTo>
                <a:lnTo>
                  <a:pt x="3105162" y="862215"/>
                </a:lnTo>
                <a:lnTo>
                  <a:pt x="3152584" y="864501"/>
                </a:lnTo>
                <a:lnTo>
                  <a:pt x="3201733" y="862114"/>
                </a:lnTo>
                <a:lnTo>
                  <a:pt x="3247313" y="854900"/>
                </a:lnTo>
                <a:lnTo>
                  <a:pt x="3289198" y="842860"/>
                </a:lnTo>
                <a:lnTo>
                  <a:pt x="3327260" y="825919"/>
                </a:lnTo>
                <a:lnTo>
                  <a:pt x="3361347" y="804037"/>
                </a:lnTo>
                <a:lnTo>
                  <a:pt x="3391344" y="777201"/>
                </a:lnTo>
                <a:lnTo>
                  <a:pt x="3417100" y="745350"/>
                </a:lnTo>
                <a:lnTo>
                  <a:pt x="3438474" y="708444"/>
                </a:lnTo>
                <a:lnTo>
                  <a:pt x="3455327" y="666445"/>
                </a:lnTo>
                <a:lnTo>
                  <a:pt x="3467544" y="619328"/>
                </a:lnTo>
                <a:lnTo>
                  <a:pt x="3474974" y="567029"/>
                </a:lnTo>
                <a:lnTo>
                  <a:pt x="3477476" y="509524"/>
                </a:lnTo>
                <a:lnTo>
                  <a:pt x="3477476" y="724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0876" y="8778875"/>
            <a:ext cx="1554405" cy="115062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5138402" y="6287962"/>
            <a:ext cx="106490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5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2" type="body"/>
          </p:nvPr>
        </p:nvSpPr>
        <p:spPr>
          <a:xfrm>
            <a:off x="4718050" y="5133092"/>
            <a:ext cx="114299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3" type="body"/>
          </p:nvPr>
        </p:nvSpPr>
        <p:spPr>
          <a:xfrm>
            <a:off x="5092767" y="7563485"/>
            <a:ext cx="1069498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Diseño personalizado">
  <p:cSld name="7_Diseño personalizado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g271b8d67b94_0_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00"/>
            <a:ext cx="20104810" cy="1130895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g271b8d67b94_0_75"/>
          <p:cNvSpPr/>
          <p:nvPr/>
        </p:nvSpPr>
        <p:spPr>
          <a:xfrm>
            <a:off x="4413253" y="4206875"/>
            <a:ext cx="9892500" cy="2286000"/>
          </a:xfrm>
          <a:prstGeom prst="rect">
            <a:avLst/>
          </a:prstGeom>
          <a:solidFill>
            <a:schemeClr val="dk1">
              <a:alpha val="5647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271b8d67b94_0_75"/>
          <p:cNvSpPr txBox="1"/>
          <p:nvPr>
            <p:ph type="title"/>
          </p:nvPr>
        </p:nvSpPr>
        <p:spPr>
          <a:xfrm>
            <a:off x="4842029" y="4534002"/>
            <a:ext cx="90201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75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/>
          <p:nvPr/>
        </p:nvSpPr>
        <p:spPr>
          <a:xfrm>
            <a:off x="1" y="828729"/>
            <a:ext cx="4946650" cy="11683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8"/>
          <p:cNvSpPr/>
          <p:nvPr/>
        </p:nvSpPr>
        <p:spPr>
          <a:xfrm>
            <a:off x="4998572" y="828729"/>
            <a:ext cx="152400" cy="1168346"/>
          </a:xfrm>
          <a:custGeom>
            <a:rect b="b" l="l" r="r" t="t"/>
            <a:pathLst>
              <a:path extrusionOk="0" h="6827520" w="53339">
                <a:moveTo>
                  <a:pt x="26606" y="0"/>
                </a:moveTo>
                <a:lnTo>
                  <a:pt x="16269" y="2095"/>
                </a:lnTo>
                <a:lnTo>
                  <a:pt x="7809" y="7806"/>
                </a:lnTo>
                <a:lnTo>
                  <a:pt x="2097" y="16264"/>
                </a:lnTo>
                <a:lnTo>
                  <a:pt x="0" y="26606"/>
                </a:lnTo>
                <a:lnTo>
                  <a:pt x="0" y="6800368"/>
                </a:lnTo>
                <a:lnTo>
                  <a:pt x="2097" y="6810704"/>
                </a:lnTo>
                <a:lnTo>
                  <a:pt x="7809" y="6819160"/>
                </a:lnTo>
                <a:lnTo>
                  <a:pt x="16269" y="6824869"/>
                </a:lnTo>
                <a:lnTo>
                  <a:pt x="26606" y="6826964"/>
                </a:lnTo>
                <a:lnTo>
                  <a:pt x="36943" y="6824869"/>
                </a:lnTo>
                <a:lnTo>
                  <a:pt x="45403" y="6819160"/>
                </a:lnTo>
                <a:lnTo>
                  <a:pt x="51115" y="6810704"/>
                </a:lnTo>
                <a:lnTo>
                  <a:pt x="53213" y="6800368"/>
                </a:lnTo>
                <a:lnTo>
                  <a:pt x="53213" y="26606"/>
                </a:lnTo>
                <a:lnTo>
                  <a:pt x="51115" y="16264"/>
                </a:lnTo>
                <a:lnTo>
                  <a:pt x="45403" y="7806"/>
                </a:lnTo>
                <a:lnTo>
                  <a:pt x="36943" y="2095"/>
                </a:lnTo>
                <a:lnTo>
                  <a:pt x="26606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574040" y="1258411"/>
            <a:ext cx="4343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8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" name="Google Shape;42;p18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43" name="Google Shape;43;p18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4" name="Google Shape;44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" name="Google Shape;45;p18"/>
          <p:cNvGrpSpPr/>
          <p:nvPr/>
        </p:nvGrpSpPr>
        <p:grpSpPr>
          <a:xfrm>
            <a:off x="12509606" y="10652760"/>
            <a:ext cx="3894979" cy="335915"/>
            <a:chOff x="8592670" y="10723202"/>
            <a:chExt cx="3894979" cy="335915"/>
          </a:xfrm>
        </p:grpSpPr>
        <p:sp>
          <p:nvSpPr>
            <p:cNvPr id="46" name="Google Shape;46;p18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18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18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18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18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18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8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8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8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18"/>
          <p:cNvSpPr txBox="1"/>
          <p:nvPr>
            <p:ph idx="2" type="body"/>
          </p:nvPr>
        </p:nvSpPr>
        <p:spPr>
          <a:xfrm>
            <a:off x="574675" y="2911475"/>
            <a:ext cx="4343400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">
  <p:cSld name="5_Title Sli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3344"/>
            <a:ext cx="20108631" cy="113126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19"/>
          <p:cNvGrpSpPr/>
          <p:nvPr/>
        </p:nvGrpSpPr>
        <p:grpSpPr>
          <a:xfrm>
            <a:off x="8375650" y="10531475"/>
            <a:ext cx="3894979" cy="335915"/>
            <a:chOff x="8592670" y="10723202"/>
            <a:chExt cx="3894979" cy="335915"/>
          </a:xfrm>
        </p:grpSpPr>
        <p:sp>
          <p:nvSpPr>
            <p:cNvPr id="59" name="Google Shape;59;p19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9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9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19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19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9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9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9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19"/>
          <p:cNvSpPr/>
          <p:nvPr/>
        </p:nvSpPr>
        <p:spPr>
          <a:xfrm>
            <a:off x="5092767" y="7254875"/>
            <a:ext cx="10694670" cy="53340"/>
          </a:xfrm>
          <a:custGeom>
            <a:rect b="b" l="l" r="r" t="t"/>
            <a:pathLst>
              <a:path extrusionOk="0" h="53340" w="10694669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9"/>
          <p:cNvSpPr/>
          <p:nvPr/>
        </p:nvSpPr>
        <p:spPr>
          <a:xfrm>
            <a:off x="5092767" y="6209204"/>
            <a:ext cx="10694670" cy="1045671"/>
          </a:xfrm>
          <a:custGeom>
            <a:rect b="b" l="l" r="r" t="t"/>
            <a:pathLst>
              <a:path extrusionOk="0" h="1025525" w="10694669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9"/>
          <p:cNvSpPr/>
          <p:nvPr/>
        </p:nvSpPr>
        <p:spPr>
          <a:xfrm>
            <a:off x="7815028" y="9029006"/>
            <a:ext cx="3477895" cy="864869"/>
          </a:xfrm>
          <a:custGeom>
            <a:rect b="b" l="l" r="r" t="t"/>
            <a:pathLst>
              <a:path extrusionOk="0" h="864870" w="3477895">
                <a:moveTo>
                  <a:pt x="743635" y="406793"/>
                </a:moveTo>
                <a:lnTo>
                  <a:pt x="740346" y="345351"/>
                </a:lnTo>
                <a:lnTo>
                  <a:pt x="730719" y="289318"/>
                </a:lnTo>
                <a:lnTo>
                  <a:pt x="715162" y="238620"/>
                </a:lnTo>
                <a:lnTo>
                  <a:pt x="694055" y="193154"/>
                </a:lnTo>
                <a:lnTo>
                  <a:pt x="667804" y="152844"/>
                </a:lnTo>
                <a:lnTo>
                  <a:pt x="636803" y="117602"/>
                </a:lnTo>
                <a:lnTo>
                  <a:pt x="601421" y="87325"/>
                </a:lnTo>
                <a:lnTo>
                  <a:pt x="565569" y="63233"/>
                </a:lnTo>
                <a:lnTo>
                  <a:pt x="542772" y="51714"/>
                </a:lnTo>
                <a:lnTo>
                  <a:pt x="542772" y="413016"/>
                </a:lnTo>
                <a:lnTo>
                  <a:pt x="539419" y="470103"/>
                </a:lnTo>
                <a:lnTo>
                  <a:pt x="529577" y="520890"/>
                </a:lnTo>
                <a:lnTo>
                  <a:pt x="513562" y="565442"/>
                </a:lnTo>
                <a:lnTo>
                  <a:pt x="491693" y="603796"/>
                </a:lnTo>
                <a:lnTo>
                  <a:pt x="464312" y="636041"/>
                </a:lnTo>
                <a:lnTo>
                  <a:pt x="431723" y="662216"/>
                </a:lnTo>
                <a:lnTo>
                  <a:pt x="394246" y="682383"/>
                </a:lnTo>
                <a:lnTo>
                  <a:pt x="352221" y="696620"/>
                </a:lnTo>
                <a:lnTo>
                  <a:pt x="305955" y="704964"/>
                </a:lnTo>
                <a:lnTo>
                  <a:pt x="255765" y="707478"/>
                </a:lnTo>
                <a:lnTo>
                  <a:pt x="238239" y="707415"/>
                </a:lnTo>
                <a:lnTo>
                  <a:pt x="220370" y="707009"/>
                </a:lnTo>
                <a:lnTo>
                  <a:pt x="203644" y="705891"/>
                </a:lnTo>
                <a:lnTo>
                  <a:pt x="189598" y="703707"/>
                </a:lnTo>
                <a:lnTo>
                  <a:pt x="189598" y="153466"/>
                </a:lnTo>
                <a:lnTo>
                  <a:pt x="204139" y="150698"/>
                </a:lnTo>
                <a:lnTo>
                  <a:pt x="223329" y="148285"/>
                </a:lnTo>
                <a:lnTo>
                  <a:pt x="247205" y="146583"/>
                </a:lnTo>
                <a:lnTo>
                  <a:pt x="275742" y="145935"/>
                </a:lnTo>
                <a:lnTo>
                  <a:pt x="328282" y="149136"/>
                </a:lnTo>
                <a:lnTo>
                  <a:pt x="375869" y="158788"/>
                </a:lnTo>
                <a:lnTo>
                  <a:pt x="418185" y="174967"/>
                </a:lnTo>
                <a:lnTo>
                  <a:pt x="454888" y="197739"/>
                </a:lnTo>
                <a:lnTo>
                  <a:pt x="485648" y="227177"/>
                </a:lnTo>
                <a:lnTo>
                  <a:pt x="510146" y="263347"/>
                </a:lnTo>
                <a:lnTo>
                  <a:pt x="528053" y="306336"/>
                </a:lnTo>
                <a:lnTo>
                  <a:pt x="539038" y="356196"/>
                </a:lnTo>
                <a:lnTo>
                  <a:pt x="542772" y="413016"/>
                </a:lnTo>
                <a:lnTo>
                  <a:pt x="542772" y="51714"/>
                </a:lnTo>
                <a:lnTo>
                  <a:pt x="482523" y="27292"/>
                </a:lnTo>
                <a:lnTo>
                  <a:pt x="434238" y="15125"/>
                </a:lnTo>
                <a:lnTo>
                  <a:pt x="380707" y="6616"/>
                </a:lnTo>
                <a:lnTo>
                  <a:pt x="321398" y="1625"/>
                </a:lnTo>
                <a:lnTo>
                  <a:pt x="255765" y="0"/>
                </a:lnTo>
                <a:lnTo>
                  <a:pt x="199453" y="749"/>
                </a:lnTo>
                <a:lnTo>
                  <a:pt x="144881" y="2997"/>
                </a:lnTo>
                <a:lnTo>
                  <a:pt x="92887" y="6743"/>
                </a:lnTo>
                <a:lnTo>
                  <a:pt x="44323" y="11976"/>
                </a:lnTo>
                <a:lnTo>
                  <a:pt x="0" y="18719"/>
                </a:lnTo>
                <a:lnTo>
                  <a:pt x="0" y="843470"/>
                </a:lnTo>
                <a:lnTo>
                  <a:pt x="39331" y="848067"/>
                </a:lnTo>
                <a:lnTo>
                  <a:pt x="88277" y="852055"/>
                </a:lnTo>
                <a:lnTo>
                  <a:pt x="147027" y="854887"/>
                </a:lnTo>
                <a:lnTo>
                  <a:pt x="215836" y="855954"/>
                </a:lnTo>
                <a:lnTo>
                  <a:pt x="276225" y="854316"/>
                </a:lnTo>
                <a:lnTo>
                  <a:pt x="333705" y="849350"/>
                </a:lnTo>
                <a:lnTo>
                  <a:pt x="388048" y="841019"/>
                </a:lnTo>
                <a:lnTo>
                  <a:pt x="439051" y="829284"/>
                </a:lnTo>
                <a:lnTo>
                  <a:pt x="486473" y="814108"/>
                </a:lnTo>
                <a:lnTo>
                  <a:pt x="530123" y="795426"/>
                </a:lnTo>
                <a:lnTo>
                  <a:pt x="569747" y="773214"/>
                </a:lnTo>
                <a:lnTo>
                  <a:pt x="605155" y="747420"/>
                </a:lnTo>
                <a:lnTo>
                  <a:pt x="634022" y="719683"/>
                </a:lnTo>
                <a:lnTo>
                  <a:pt x="644169" y="707478"/>
                </a:lnTo>
                <a:lnTo>
                  <a:pt x="660463" y="687882"/>
                </a:lnTo>
                <a:lnTo>
                  <a:pt x="684047" y="651916"/>
                </a:lnTo>
                <a:lnTo>
                  <a:pt x="704329" y="611720"/>
                </a:lnTo>
                <a:lnTo>
                  <a:pt x="720864" y="567194"/>
                </a:lnTo>
                <a:lnTo>
                  <a:pt x="733221" y="518261"/>
                </a:lnTo>
                <a:lnTo>
                  <a:pt x="740968" y="464820"/>
                </a:lnTo>
                <a:lnTo>
                  <a:pt x="743635" y="406793"/>
                </a:lnTo>
                <a:close/>
              </a:path>
              <a:path extrusionOk="0" h="864870" w="3477895">
                <a:moveTo>
                  <a:pt x="1394968" y="847204"/>
                </a:moveTo>
                <a:lnTo>
                  <a:pt x="1393126" y="806246"/>
                </a:lnTo>
                <a:lnTo>
                  <a:pt x="1391513" y="760018"/>
                </a:lnTo>
                <a:lnTo>
                  <a:pt x="1390370" y="708418"/>
                </a:lnTo>
                <a:lnTo>
                  <a:pt x="1389938" y="651319"/>
                </a:lnTo>
                <a:lnTo>
                  <a:pt x="1389938" y="237070"/>
                </a:lnTo>
                <a:lnTo>
                  <a:pt x="1200277" y="237070"/>
                </a:lnTo>
                <a:lnTo>
                  <a:pt x="1200277" y="600151"/>
                </a:lnTo>
                <a:lnTo>
                  <a:pt x="1199819" y="611860"/>
                </a:lnTo>
                <a:lnTo>
                  <a:pt x="1180630" y="664324"/>
                </a:lnTo>
                <a:lnTo>
                  <a:pt x="1133335" y="701357"/>
                </a:lnTo>
                <a:lnTo>
                  <a:pt x="1097978" y="707478"/>
                </a:lnTo>
                <a:lnTo>
                  <a:pt x="1054544" y="697712"/>
                </a:lnTo>
                <a:lnTo>
                  <a:pt x="1024686" y="669582"/>
                </a:lnTo>
                <a:lnTo>
                  <a:pt x="1007452" y="624840"/>
                </a:lnTo>
                <a:lnTo>
                  <a:pt x="1001915" y="565238"/>
                </a:lnTo>
                <a:lnTo>
                  <a:pt x="1001915" y="237070"/>
                </a:lnTo>
                <a:lnTo>
                  <a:pt x="812266" y="237070"/>
                </a:lnTo>
                <a:lnTo>
                  <a:pt x="812266" y="595160"/>
                </a:lnTo>
                <a:lnTo>
                  <a:pt x="816368" y="660679"/>
                </a:lnTo>
                <a:lnTo>
                  <a:pt x="828255" y="716178"/>
                </a:lnTo>
                <a:lnTo>
                  <a:pt x="847267" y="762063"/>
                </a:lnTo>
                <a:lnTo>
                  <a:pt x="872769" y="798715"/>
                </a:lnTo>
                <a:lnTo>
                  <a:pt x="904125" y="826541"/>
                </a:lnTo>
                <a:lnTo>
                  <a:pt x="940689" y="845921"/>
                </a:lnTo>
                <a:lnTo>
                  <a:pt x="981811" y="857275"/>
                </a:lnTo>
                <a:lnTo>
                  <a:pt x="1026845" y="860958"/>
                </a:lnTo>
                <a:lnTo>
                  <a:pt x="1086599" y="854176"/>
                </a:lnTo>
                <a:lnTo>
                  <a:pt x="1134656" y="836599"/>
                </a:lnTo>
                <a:lnTo>
                  <a:pt x="1171943" y="812444"/>
                </a:lnTo>
                <a:lnTo>
                  <a:pt x="1199349" y="785888"/>
                </a:lnTo>
                <a:lnTo>
                  <a:pt x="1217764" y="761123"/>
                </a:lnTo>
                <a:lnTo>
                  <a:pt x="1221486" y="761123"/>
                </a:lnTo>
                <a:lnTo>
                  <a:pt x="1230261" y="847204"/>
                </a:lnTo>
                <a:lnTo>
                  <a:pt x="1394968" y="847204"/>
                </a:lnTo>
                <a:close/>
              </a:path>
              <a:path extrusionOk="0" h="864870" w="3477895">
                <a:moveTo>
                  <a:pt x="2097112" y="536511"/>
                </a:moveTo>
                <a:lnTo>
                  <a:pt x="2094064" y="487603"/>
                </a:lnTo>
                <a:lnTo>
                  <a:pt x="2085124" y="441807"/>
                </a:lnTo>
                <a:lnTo>
                  <a:pt x="2070569" y="399427"/>
                </a:lnTo>
                <a:lnTo>
                  <a:pt x="2050681" y="360819"/>
                </a:lnTo>
                <a:lnTo>
                  <a:pt x="2049614" y="359359"/>
                </a:lnTo>
                <a:lnTo>
                  <a:pt x="2025751" y="326301"/>
                </a:lnTo>
                <a:lnTo>
                  <a:pt x="1996071" y="296202"/>
                </a:lnTo>
                <a:lnTo>
                  <a:pt x="1961934" y="270840"/>
                </a:lnTo>
                <a:lnTo>
                  <a:pt x="1923605" y="250532"/>
                </a:lnTo>
                <a:lnTo>
                  <a:pt x="1899958" y="242189"/>
                </a:lnTo>
                <a:lnTo>
                  <a:pt x="1899958" y="541528"/>
                </a:lnTo>
                <a:lnTo>
                  <a:pt x="1894560" y="602767"/>
                </a:lnTo>
                <a:lnTo>
                  <a:pt x="1878926" y="653516"/>
                </a:lnTo>
                <a:lnTo>
                  <a:pt x="1853895" y="691984"/>
                </a:lnTo>
                <a:lnTo>
                  <a:pt x="1820291" y="716381"/>
                </a:lnTo>
                <a:lnTo>
                  <a:pt x="1778939" y="724916"/>
                </a:lnTo>
                <a:lnTo>
                  <a:pt x="1777720" y="724916"/>
                </a:lnTo>
                <a:lnTo>
                  <a:pt x="1734197" y="715911"/>
                </a:lnTo>
                <a:lnTo>
                  <a:pt x="1699729" y="690626"/>
                </a:lnTo>
                <a:lnTo>
                  <a:pt x="1674660" y="651637"/>
                </a:lnTo>
                <a:lnTo>
                  <a:pt x="1659369" y="601484"/>
                </a:lnTo>
                <a:lnTo>
                  <a:pt x="1654187" y="542772"/>
                </a:lnTo>
                <a:lnTo>
                  <a:pt x="1657184" y="497560"/>
                </a:lnTo>
                <a:lnTo>
                  <a:pt x="1666570" y="454748"/>
                </a:lnTo>
                <a:lnTo>
                  <a:pt x="1682877" y="416915"/>
                </a:lnTo>
                <a:lnTo>
                  <a:pt x="1706676" y="386676"/>
                </a:lnTo>
                <a:lnTo>
                  <a:pt x="1778939" y="359359"/>
                </a:lnTo>
                <a:lnTo>
                  <a:pt x="1824596" y="369684"/>
                </a:lnTo>
                <a:lnTo>
                  <a:pt x="1858733" y="397611"/>
                </a:lnTo>
                <a:lnTo>
                  <a:pt x="1882152" y="438594"/>
                </a:lnTo>
                <a:lnTo>
                  <a:pt x="1895640" y="488086"/>
                </a:lnTo>
                <a:lnTo>
                  <a:pt x="1899958" y="541528"/>
                </a:lnTo>
                <a:lnTo>
                  <a:pt x="1899958" y="242189"/>
                </a:lnTo>
                <a:lnTo>
                  <a:pt x="1881390" y="235635"/>
                </a:lnTo>
                <a:lnTo>
                  <a:pt x="1835569" y="226453"/>
                </a:lnTo>
                <a:lnTo>
                  <a:pt x="1786420" y="223316"/>
                </a:lnTo>
                <a:lnTo>
                  <a:pt x="1734375" y="226402"/>
                </a:lnTo>
                <a:lnTo>
                  <a:pt x="1685937" y="235483"/>
                </a:lnTo>
                <a:lnTo>
                  <a:pt x="1641424" y="250329"/>
                </a:lnTo>
                <a:lnTo>
                  <a:pt x="1601089" y="270675"/>
                </a:lnTo>
                <a:lnTo>
                  <a:pt x="1565224" y="296278"/>
                </a:lnTo>
                <a:lnTo>
                  <a:pt x="1534109" y="326898"/>
                </a:lnTo>
                <a:lnTo>
                  <a:pt x="1508010" y="362280"/>
                </a:lnTo>
                <a:lnTo>
                  <a:pt x="1487233" y="402170"/>
                </a:lnTo>
                <a:lnTo>
                  <a:pt x="1472044" y="446328"/>
                </a:lnTo>
                <a:lnTo>
                  <a:pt x="1462722" y="494512"/>
                </a:lnTo>
                <a:lnTo>
                  <a:pt x="1459547" y="546468"/>
                </a:lnTo>
                <a:lnTo>
                  <a:pt x="1462874" y="598233"/>
                </a:lnTo>
                <a:lnTo>
                  <a:pt x="1472590" y="645896"/>
                </a:lnTo>
                <a:lnTo>
                  <a:pt x="1488224" y="689216"/>
                </a:lnTo>
                <a:lnTo>
                  <a:pt x="1509369" y="728091"/>
                </a:lnTo>
                <a:lnTo>
                  <a:pt x="1535582" y="762330"/>
                </a:lnTo>
                <a:lnTo>
                  <a:pt x="1566443" y="791756"/>
                </a:lnTo>
                <a:lnTo>
                  <a:pt x="1601508" y="816216"/>
                </a:lnTo>
                <a:lnTo>
                  <a:pt x="1640344" y="835533"/>
                </a:lnTo>
                <a:lnTo>
                  <a:pt x="1682521" y="849541"/>
                </a:lnTo>
                <a:lnTo>
                  <a:pt x="1727619" y="858075"/>
                </a:lnTo>
                <a:lnTo>
                  <a:pt x="1775180" y="860958"/>
                </a:lnTo>
                <a:lnTo>
                  <a:pt x="1776425" y="860958"/>
                </a:lnTo>
                <a:lnTo>
                  <a:pt x="1820456" y="858405"/>
                </a:lnTo>
                <a:lnTo>
                  <a:pt x="1863610" y="850696"/>
                </a:lnTo>
                <a:lnTo>
                  <a:pt x="1905177" y="837768"/>
                </a:lnTo>
                <a:lnTo>
                  <a:pt x="1944458" y="819518"/>
                </a:lnTo>
                <a:lnTo>
                  <a:pt x="1980780" y="795896"/>
                </a:lnTo>
                <a:lnTo>
                  <a:pt x="2013419" y="766787"/>
                </a:lnTo>
                <a:lnTo>
                  <a:pt x="2041690" y="732142"/>
                </a:lnTo>
                <a:lnTo>
                  <a:pt x="2064893" y="691870"/>
                </a:lnTo>
                <a:lnTo>
                  <a:pt x="2082330" y="645871"/>
                </a:lnTo>
                <a:lnTo>
                  <a:pt x="2093302" y="594131"/>
                </a:lnTo>
                <a:lnTo>
                  <a:pt x="2097112" y="536511"/>
                </a:lnTo>
                <a:close/>
              </a:path>
              <a:path extrusionOk="0" h="864870" w="3477895">
                <a:moveTo>
                  <a:pt x="2656205" y="247065"/>
                </a:moveTo>
                <a:lnTo>
                  <a:pt x="2623756" y="237032"/>
                </a:lnTo>
                <a:lnTo>
                  <a:pt x="2587587" y="229565"/>
                </a:lnTo>
                <a:lnTo>
                  <a:pt x="2549537" y="224917"/>
                </a:lnTo>
                <a:lnTo>
                  <a:pt x="2511463" y="223316"/>
                </a:lnTo>
                <a:lnTo>
                  <a:pt x="2456891" y="226301"/>
                </a:lnTo>
                <a:lnTo>
                  <a:pt x="2406751" y="234962"/>
                </a:lnTo>
                <a:lnTo>
                  <a:pt x="2361095" y="248920"/>
                </a:lnTo>
                <a:lnTo>
                  <a:pt x="2319985" y="267779"/>
                </a:lnTo>
                <a:lnTo>
                  <a:pt x="2283485" y="291147"/>
                </a:lnTo>
                <a:lnTo>
                  <a:pt x="2251646" y="318617"/>
                </a:lnTo>
                <a:lnTo>
                  <a:pt x="2224557" y="349808"/>
                </a:lnTo>
                <a:lnTo>
                  <a:pt x="2202243" y="384327"/>
                </a:lnTo>
                <a:lnTo>
                  <a:pt x="2184781" y="421779"/>
                </a:lnTo>
                <a:lnTo>
                  <a:pt x="2172246" y="461759"/>
                </a:lnTo>
                <a:lnTo>
                  <a:pt x="2164664" y="503885"/>
                </a:lnTo>
                <a:lnTo>
                  <a:pt x="2162137" y="547763"/>
                </a:lnTo>
                <a:lnTo>
                  <a:pt x="2165210" y="598373"/>
                </a:lnTo>
                <a:lnTo>
                  <a:pt x="2174303" y="645236"/>
                </a:lnTo>
                <a:lnTo>
                  <a:pt x="2189137" y="688111"/>
                </a:lnTo>
                <a:lnTo>
                  <a:pt x="2209482" y="726795"/>
                </a:lnTo>
                <a:lnTo>
                  <a:pt x="2235085" y="761034"/>
                </a:lnTo>
                <a:lnTo>
                  <a:pt x="2265692" y="790625"/>
                </a:lnTo>
                <a:lnTo>
                  <a:pt x="2301075" y="815352"/>
                </a:lnTo>
                <a:lnTo>
                  <a:pt x="2340965" y="834961"/>
                </a:lnTo>
                <a:lnTo>
                  <a:pt x="2385123" y="849249"/>
                </a:lnTo>
                <a:lnTo>
                  <a:pt x="2433320" y="857986"/>
                </a:lnTo>
                <a:lnTo>
                  <a:pt x="2485275" y="860958"/>
                </a:lnTo>
                <a:lnTo>
                  <a:pt x="2537599" y="858761"/>
                </a:lnTo>
                <a:lnTo>
                  <a:pt x="2584640" y="852703"/>
                </a:lnTo>
                <a:lnTo>
                  <a:pt x="2624442" y="843597"/>
                </a:lnTo>
                <a:lnTo>
                  <a:pt x="2632506" y="692505"/>
                </a:lnTo>
                <a:lnTo>
                  <a:pt x="2609748" y="700887"/>
                </a:lnTo>
                <a:lnTo>
                  <a:pt x="2584310" y="707174"/>
                </a:lnTo>
                <a:lnTo>
                  <a:pt x="2555811" y="711098"/>
                </a:lnTo>
                <a:lnTo>
                  <a:pt x="2523909" y="712470"/>
                </a:lnTo>
                <a:lnTo>
                  <a:pt x="2479484" y="707517"/>
                </a:lnTo>
                <a:lnTo>
                  <a:pt x="2439555" y="692785"/>
                </a:lnTo>
                <a:lnTo>
                  <a:pt x="2405710" y="668489"/>
                </a:lnTo>
                <a:lnTo>
                  <a:pt x="2379548" y="634834"/>
                </a:lnTo>
                <a:lnTo>
                  <a:pt x="2362695" y="592023"/>
                </a:lnTo>
                <a:lnTo>
                  <a:pt x="2356713" y="540283"/>
                </a:lnTo>
                <a:lnTo>
                  <a:pt x="2361463" y="492950"/>
                </a:lnTo>
                <a:lnTo>
                  <a:pt x="2376360" y="451586"/>
                </a:lnTo>
                <a:lnTo>
                  <a:pt x="2400566" y="417360"/>
                </a:lnTo>
                <a:lnTo>
                  <a:pt x="2433180" y="391452"/>
                </a:lnTo>
                <a:lnTo>
                  <a:pt x="2473350" y="375043"/>
                </a:lnTo>
                <a:lnTo>
                  <a:pt x="2520213" y="369303"/>
                </a:lnTo>
                <a:lnTo>
                  <a:pt x="2554694" y="370827"/>
                </a:lnTo>
                <a:lnTo>
                  <a:pt x="2583548" y="374929"/>
                </a:lnTo>
                <a:lnTo>
                  <a:pt x="2607246" y="380911"/>
                </a:lnTo>
                <a:lnTo>
                  <a:pt x="2626271" y="388061"/>
                </a:lnTo>
                <a:lnTo>
                  <a:pt x="2656205" y="247065"/>
                </a:lnTo>
                <a:close/>
              </a:path>
              <a:path extrusionOk="0" h="864870" w="3477895">
                <a:moveTo>
                  <a:pt x="3477476" y="72466"/>
                </a:moveTo>
                <a:lnTo>
                  <a:pt x="3301720" y="72466"/>
                </a:lnTo>
                <a:lnTo>
                  <a:pt x="3301720" y="521081"/>
                </a:lnTo>
                <a:lnTo>
                  <a:pt x="3297517" y="583844"/>
                </a:lnTo>
                <a:lnTo>
                  <a:pt x="3285109" y="634695"/>
                </a:lnTo>
                <a:lnTo>
                  <a:pt x="3264738" y="673836"/>
                </a:lnTo>
                <a:lnTo>
                  <a:pt x="3236658" y="701522"/>
                </a:lnTo>
                <a:lnTo>
                  <a:pt x="3201111" y="717969"/>
                </a:lnTo>
                <a:lnTo>
                  <a:pt x="3158363" y="723404"/>
                </a:lnTo>
                <a:lnTo>
                  <a:pt x="3116605" y="717727"/>
                </a:lnTo>
                <a:lnTo>
                  <a:pt x="3081705" y="700760"/>
                </a:lnTo>
                <a:lnTo>
                  <a:pt x="3054019" y="672541"/>
                </a:lnTo>
                <a:lnTo>
                  <a:pt x="3033852" y="633145"/>
                </a:lnTo>
                <a:lnTo>
                  <a:pt x="3021507" y="582637"/>
                </a:lnTo>
                <a:lnTo>
                  <a:pt x="3017329" y="521081"/>
                </a:lnTo>
                <a:lnTo>
                  <a:pt x="3017329" y="72466"/>
                </a:lnTo>
                <a:lnTo>
                  <a:pt x="2840393" y="72466"/>
                </a:lnTo>
                <a:lnTo>
                  <a:pt x="2840393" y="507225"/>
                </a:lnTo>
                <a:lnTo>
                  <a:pt x="2842780" y="566483"/>
                </a:lnTo>
                <a:lnTo>
                  <a:pt x="2849867" y="620014"/>
                </a:lnTo>
                <a:lnTo>
                  <a:pt x="2861526" y="667931"/>
                </a:lnTo>
                <a:lnTo>
                  <a:pt x="2877655" y="710349"/>
                </a:lnTo>
                <a:lnTo>
                  <a:pt x="2898114" y="747369"/>
                </a:lnTo>
                <a:lnTo>
                  <a:pt x="2922778" y="779094"/>
                </a:lnTo>
                <a:lnTo>
                  <a:pt x="2951556" y="805637"/>
                </a:lnTo>
                <a:lnTo>
                  <a:pt x="2984296" y="827125"/>
                </a:lnTo>
                <a:lnTo>
                  <a:pt x="3020885" y="843635"/>
                </a:lnTo>
                <a:lnTo>
                  <a:pt x="3061220" y="855294"/>
                </a:lnTo>
                <a:lnTo>
                  <a:pt x="3105162" y="862215"/>
                </a:lnTo>
                <a:lnTo>
                  <a:pt x="3152584" y="864501"/>
                </a:lnTo>
                <a:lnTo>
                  <a:pt x="3201733" y="862114"/>
                </a:lnTo>
                <a:lnTo>
                  <a:pt x="3247313" y="854900"/>
                </a:lnTo>
                <a:lnTo>
                  <a:pt x="3289198" y="842860"/>
                </a:lnTo>
                <a:lnTo>
                  <a:pt x="3327260" y="825919"/>
                </a:lnTo>
                <a:lnTo>
                  <a:pt x="3361347" y="804037"/>
                </a:lnTo>
                <a:lnTo>
                  <a:pt x="3391344" y="777201"/>
                </a:lnTo>
                <a:lnTo>
                  <a:pt x="3417100" y="745350"/>
                </a:lnTo>
                <a:lnTo>
                  <a:pt x="3438474" y="708444"/>
                </a:lnTo>
                <a:lnTo>
                  <a:pt x="3455327" y="666445"/>
                </a:lnTo>
                <a:lnTo>
                  <a:pt x="3467544" y="619328"/>
                </a:lnTo>
                <a:lnTo>
                  <a:pt x="3474974" y="567029"/>
                </a:lnTo>
                <a:lnTo>
                  <a:pt x="3477476" y="509524"/>
                </a:lnTo>
                <a:lnTo>
                  <a:pt x="3477476" y="724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0876" y="8778875"/>
            <a:ext cx="1554405" cy="11506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5138402" y="6287962"/>
            <a:ext cx="106490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5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2" type="body"/>
          </p:nvPr>
        </p:nvSpPr>
        <p:spPr>
          <a:xfrm>
            <a:off x="4718050" y="5133092"/>
            <a:ext cx="114299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3" type="body"/>
          </p:nvPr>
        </p:nvSpPr>
        <p:spPr>
          <a:xfrm>
            <a:off x="5092767" y="7563485"/>
            <a:ext cx="1069498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/>
          <p:nvPr/>
        </p:nvSpPr>
        <p:spPr>
          <a:xfrm>
            <a:off x="14603006" y="1768475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0"/>
          <p:cNvSpPr/>
          <p:nvPr/>
        </p:nvSpPr>
        <p:spPr>
          <a:xfrm>
            <a:off x="10415337" y="1768476"/>
            <a:ext cx="3392804" cy="7616568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0"/>
          <p:cNvSpPr/>
          <p:nvPr/>
        </p:nvSpPr>
        <p:spPr>
          <a:xfrm>
            <a:off x="6347214" y="1813303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0"/>
          <p:cNvSpPr/>
          <p:nvPr/>
        </p:nvSpPr>
        <p:spPr>
          <a:xfrm>
            <a:off x="2235659" y="1820288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2432050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0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20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86" name="Google Shape;86;p20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7" name="Google Shape;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20"/>
          <p:cNvGrpSpPr/>
          <p:nvPr/>
        </p:nvGrpSpPr>
        <p:grpSpPr>
          <a:xfrm>
            <a:off x="12509606" y="10652760"/>
            <a:ext cx="3894979" cy="335915"/>
            <a:chOff x="8592670" y="10723202"/>
            <a:chExt cx="3894979" cy="335915"/>
          </a:xfrm>
        </p:grpSpPr>
        <p:sp>
          <p:nvSpPr>
            <p:cNvPr id="89" name="Google Shape;89;p20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0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20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0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0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0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0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0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0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0"/>
          <p:cNvSpPr txBox="1"/>
          <p:nvPr>
            <p:ph idx="2" type="body"/>
          </p:nvPr>
        </p:nvSpPr>
        <p:spPr>
          <a:xfrm>
            <a:off x="2432050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3" type="body"/>
          </p:nvPr>
        </p:nvSpPr>
        <p:spPr>
          <a:xfrm>
            <a:off x="2520907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4" type="body"/>
          </p:nvPr>
        </p:nvSpPr>
        <p:spPr>
          <a:xfrm>
            <a:off x="6569873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5" type="body"/>
          </p:nvPr>
        </p:nvSpPr>
        <p:spPr>
          <a:xfrm>
            <a:off x="6569873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6" type="body"/>
          </p:nvPr>
        </p:nvSpPr>
        <p:spPr>
          <a:xfrm>
            <a:off x="6658730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7" type="body"/>
          </p:nvPr>
        </p:nvSpPr>
        <p:spPr>
          <a:xfrm>
            <a:off x="10642730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8" type="body"/>
          </p:nvPr>
        </p:nvSpPr>
        <p:spPr>
          <a:xfrm>
            <a:off x="10642730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9" type="body"/>
          </p:nvPr>
        </p:nvSpPr>
        <p:spPr>
          <a:xfrm>
            <a:off x="10731587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3" type="body"/>
          </p:nvPr>
        </p:nvSpPr>
        <p:spPr>
          <a:xfrm>
            <a:off x="14844104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4" type="body"/>
          </p:nvPr>
        </p:nvSpPr>
        <p:spPr>
          <a:xfrm>
            <a:off x="14844104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5" type="body"/>
          </p:nvPr>
        </p:nvSpPr>
        <p:spPr>
          <a:xfrm>
            <a:off x="14932961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0"/>
          <p:cNvSpPr/>
          <p:nvPr/>
        </p:nvSpPr>
        <p:spPr>
          <a:xfrm>
            <a:off x="3579241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7667696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15995650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11728450" y="571988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iseño personalizado">
  <p:cSld name="2_Diseño personalizado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21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117" name="Google Shape;117;p21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8" name="Google Shape;118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" name="Google Shape;119;p21"/>
          <p:cNvGrpSpPr/>
          <p:nvPr/>
        </p:nvGrpSpPr>
        <p:grpSpPr>
          <a:xfrm>
            <a:off x="12509606" y="10652760"/>
            <a:ext cx="3894979" cy="335915"/>
            <a:chOff x="8592670" y="10723202"/>
            <a:chExt cx="3894979" cy="335915"/>
          </a:xfrm>
        </p:grpSpPr>
        <p:sp>
          <p:nvSpPr>
            <p:cNvPr id="120" name="Google Shape;120;p21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1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1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1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1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1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1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1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wo Content">
  <p:cSld name="3_Two Conten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20104101" cy="73198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22"/>
          <p:cNvGrpSpPr/>
          <p:nvPr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132" name="Google Shape;132;p22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2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2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2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2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22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22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144" name="Google Shape;144;p22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5" name="Google Shape;14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22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7" name="Google Shape;147;p22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wo Content">
  <p:cSld name="4_Two Conten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3"/>
          <p:cNvGrpSpPr/>
          <p:nvPr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151" name="Google Shape;151;p23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23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" name="Google Shape;162;p23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163" name="Google Shape;163;p23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4" name="Google Shape;16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23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6" name="Google Shape;166;p23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8" name="Google Shape;1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20104101" cy="7339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wo Content">
  <p:cSld name="5_Two Conten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4"/>
          <p:cNvGrpSpPr/>
          <p:nvPr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171" name="Google Shape;171;p24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4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24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24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183" name="Google Shape;183;p24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4" name="Google Shape;184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5" name="Google Shape;185;p24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6" name="Google Shape;186;p24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20104101" cy="731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20104101" cy="73198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25"/>
          <p:cNvGrpSpPr/>
          <p:nvPr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192" name="Google Shape;192;p25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5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25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5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25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25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204" name="Google Shape;204;p25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5" name="Google Shape;20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5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7" name="Google Shape;207;p25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6927" y="-1"/>
            <a:ext cx="20121027" cy="73259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26"/>
          <p:cNvGrpSpPr/>
          <p:nvPr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212" name="Google Shape;212;p26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26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26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224" name="Google Shape;224;p26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5" name="Google Shape;225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26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27" name="Google Shape;227;p26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26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80393" y="2411901"/>
            <a:ext cx="395605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"/>
          <p:cNvSpPr txBox="1"/>
          <p:nvPr>
            <p:ph idx="1" type="body"/>
          </p:nvPr>
        </p:nvSpPr>
        <p:spPr>
          <a:xfrm>
            <a:off x="5138720" y="6416675"/>
            <a:ext cx="1064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800">
                <a:latin typeface="Calibri"/>
                <a:ea typeface="Calibri"/>
                <a:cs typeface="Calibri"/>
                <a:sym typeface="Calibri"/>
              </a:rPr>
              <a:t>CAPSTONE 004D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"/>
          <p:cNvSpPr txBox="1"/>
          <p:nvPr>
            <p:ph idx="2" type="body"/>
          </p:nvPr>
        </p:nvSpPr>
        <p:spPr>
          <a:xfrm>
            <a:off x="1707775" y="4284300"/>
            <a:ext cx="17511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Propuesta “Chatbot Académico Duoc UC”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Fase 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"/>
          <p:cNvSpPr txBox="1"/>
          <p:nvPr>
            <p:ph idx="3" type="body"/>
          </p:nvPr>
        </p:nvSpPr>
        <p:spPr>
          <a:xfrm>
            <a:off x="5115738" y="7368463"/>
            <a:ext cx="1069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800">
                <a:latin typeface="Calibri"/>
                <a:ea typeface="Calibri"/>
                <a:cs typeface="Calibri"/>
                <a:sym typeface="Calibri"/>
              </a:rPr>
              <a:t>Integrantes: Julio Contreras, Renato Arrue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538b34626_2_5"/>
          <p:cNvSpPr txBox="1"/>
          <p:nvPr>
            <p:ph type="title"/>
          </p:nvPr>
        </p:nvSpPr>
        <p:spPr>
          <a:xfrm>
            <a:off x="4474450" y="4836050"/>
            <a:ext cx="987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7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8538b34626_2_5"/>
          <p:cNvSpPr txBox="1"/>
          <p:nvPr>
            <p:ph idx="4294967295" type="sldNum"/>
          </p:nvPr>
        </p:nvSpPr>
        <p:spPr>
          <a:xfrm>
            <a:off x="16711533" y="10481754"/>
            <a:ext cx="339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538b34626_2_14"/>
          <p:cNvSpPr txBox="1"/>
          <p:nvPr>
            <p:ph idx="1" type="body"/>
          </p:nvPr>
        </p:nvSpPr>
        <p:spPr>
          <a:xfrm>
            <a:off x="149800" y="1108625"/>
            <a:ext cx="4863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4500"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4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8538b34626_2_14"/>
          <p:cNvSpPr txBox="1"/>
          <p:nvPr/>
        </p:nvSpPr>
        <p:spPr>
          <a:xfrm>
            <a:off x="456425" y="2406875"/>
            <a:ext cx="19439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ES" sz="3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Actualmente, el proceso de inscripción y toma de asignaturas en el Instituto Profesional puede ser lento y generar dudas entre los estudiantes, especialmente cuando existen problemas de cupos, cambios de sección o consultas administrativas. Esto provoca sobrecarga en las plataformas institucionales y en el personal encargado de soporte.</a:t>
            </a:r>
            <a:endParaRPr b="0" i="0" sz="33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g38538b34626_2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413" y="4724325"/>
            <a:ext cx="4250375" cy="596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8538b34626_2_14"/>
          <p:cNvSpPr txBox="1"/>
          <p:nvPr/>
        </p:nvSpPr>
        <p:spPr>
          <a:xfrm>
            <a:off x="11599750" y="4924925"/>
            <a:ext cx="7944000" cy="5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g38538b34626_2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5825" y="4824613"/>
            <a:ext cx="4184625" cy="576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8538b34626_2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09475" y="4824625"/>
            <a:ext cx="9686023" cy="554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662ab5b26_0_34"/>
          <p:cNvSpPr txBox="1"/>
          <p:nvPr>
            <p:ph type="title"/>
          </p:nvPr>
        </p:nvSpPr>
        <p:spPr>
          <a:xfrm>
            <a:off x="4474450" y="4836050"/>
            <a:ext cx="987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Propuesta valor</a:t>
            </a:r>
            <a:endParaRPr sz="7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a662ab5b26_0_34"/>
          <p:cNvSpPr txBox="1"/>
          <p:nvPr>
            <p:ph idx="4294967295" type="sldNum"/>
          </p:nvPr>
        </p:nvSpPr>
        <p:spPr>
          <a:xfrm>
            <a:off x="16711533" y="10481754"/>
            <a:ext cx="339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662ab5b26_0_39"/>
          <p:cNvSpPr txBox="1"/>
          <p:nvPr>
            <p:ph idx="1" type="body"/>
          </p:nvPr>
        </p:nvSpPr>
        <p:spPr>
          <a:xfrm>
            <a:off x="149800" y="1108625"/>
            <a:ext cx="578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3700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s-ES" sz="3600">
                <a:latin typeface="Calibri"/>
                <a:ea typeface="Calibri"/>
                <a:cs typeface="Calibri"/>
                <a:sym typeface="Calibri"/>
              </a:rPr>
              <a:t>a necesidad del usuario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a662ab5b26_0_39"/>
          <p:cNvSpPr txBox="1"/>
          <p:nvPr/>
        </p:nvSpPr>
        <p:spPr>
          <a:xfrm>
            <a:off x="456425" y="2406875"/>
            <a:ext cx="19439100" cy="77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600">
                <a:solidFill>
                  <a:schemeClr val="dk1"/>
                </a:solidFill>
              </a:rPr>
              <a:t>Acá algunos testimonios de alumnos de </a:t>
            </a:r>
            <a:r>
              <a:rPr b="1" lang="es-ES" sz="2600">
                <a:solidFill>
                  <a:schemeClr val="dk1"/>
                </a:solidFill>
              </a:rPr>
              <a:t>Duoc UC</a:t>
            </a:r>
            <a:r>
              <a:rPr b="1" lang="es-ES" sz="2600">
                <a:solidFill>
                  <a:schemeClr val="dk1"/>
                </a:solidFill>
              </a:rPr>
              <a:t> acerca del </a:t>
            </a:r>
            <a:r>
              <a:rPr b="1" lang="es-ES" sz="2600">
                <a:solidFill>
                  <a:schemeClr val="dk1"/>
                </a:solidFill>
              </a:rPr>
              <a:t>sistema</a:t>
            </a:r>
            <a:r>
              <a:rPr b="1" lang="es-ES" sz="2600">
                <a:solidFill>
                  <a:schemeClr val="dk1"/>
                </a:solidFill>
              </a:rPr>
              <a:t> actual de Chatbot y Sistema de inscripción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600">
                <a:solidFill>
                  <a:schemeClr val="dk1"/>
                </a:solidFill>
              </a:rPr>
              <a:t>1. Juan S. (Alumno de 3er Año)</a:t>
            </a:r>
            <a:endParaRPr b="1" sz="26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400">
                <a:solidFill>
                  <a:schemeClr val="dk1"/>
                </a:solidFill>
              </a:rPr>
              <a:t>Sobre el Sistema de Inscripción:</a:t>
            </a:r>
            <a:r>
              <a:rPr lang="es-ES" sz="2400">
                <a:solidFill>
                  <a:schemeClr val="dk1"/>
                </a:solidFill>
              </a:rPr>
              <a:t> </a:t>
            </a:r>
            <a:r>
              <a:rPr b="1" lang="es-ES" sz="2400">
                <a:solidFill>
                  <a:schemeClr val="dk1"/>
                </a:solidFill>
              </a:rPr>
              <a:t>"Es demasiado lento y poco intuitivo.</a:t>
            </a:r>
            <a:r>
              <a:rPr lang="es-ES" sz="2400">
                <a:solidFill>
                  <a:schemeClr val="dk1"/>
                </a:solidFill>
              </a:rPr>
              <a:t> En período de toma de ramos, la plataforma se cae constantemente o se </a:t>
            </a:r>
            <a:r>
              <a:rPr i="1" lang="es-ES" sz="2400">
                <a:solidFill>
                  <a:schemeClr val="dk1"/>
                </a:solidFill>
              </a:rPr>
              <a:t>pega</a:t>
            </a:r>
            <a:r>
              <a:rPr lang="es-ES" sz="2400">
                <a:solidFill>
                  <a:schemeClr val="dk1"/>
                </a:solidFill>
              </a:rPr>
              <a:t>. Es imposible asegurar los cupos."</a:t>
            </a:r>
            <a:endParaRPr sz="24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400">
                <a:solidFill>
                  <a:schemeClr val="dk1"/>
                </a:solidFill>
              </a:rPr>
              <a:t>Sobre el Chatbot Existente:</a:t>
            </a:r>
            <a:r>
              <a:rPr lang="es-ES" sz="2400">
                <a:solidFill>
                  <a:schemeClr val="dk1"/>
                </a:solidFill>
              </a:rPr>
              <a:t> </a:t>
            </a:r>
            <a:r>
              <a:rPr b="1" lang="es-ES" sz="2400">
                <a:solidFill>
                  <a:schemeClr val="dk1"/>
                </a:solidFill>
              </a:rPr>
              <a:t>"No es un </a:t>
            </a:r>
            <a:r>
              <a:rPr b="1" i="1" lang="es-ES" sz="2400">
                <a:solidFill>
                  <a:schemeClr val="dk1"/>
                </a:solidFill>
              </a:rPr>
              <a:t>chatbot verdadero</a:t>
            </a:r>
            <a:r>
              <a:rPr b="1" lang="es-ES" sz="2400">
                <a:solidFill>
                  <a:schemeClr val="dk1"/>
                </a:solidFill>
              </a:rPr>
              <a:t>.</a:t>
            </a:r>
            <a:r>
              <a:rPr lang="es-ES" sz="2400">
                <a:solidFill>
                  <a:schemeClr val="dk1"/>
                </a:solidFill>
              </a:rPr>
              <a:t> Solo da respuestas básicas de FAQ. Cuando le pregunto algo complejo del reglamento, no contesta."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600">
                <a:solidFill>
                  <a:schemeClr val="dk1"/>
                </a:solidFill>
              </a:rPr>
              <a:t>2. Paula R. (Alumna de 2do Año)</a:t>
            </a:r>
            <a:endParaRPr b="1" sz="26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400">
                <a:solidFill>
                  <a:schemeClr val="dk1"/>
                </a:solidFill>
              </a:rPr>
              <a:t>Sobre el Sistema de Inscripción:</a:t>
            </a:r>
            <a:r>
              <a:rPr lang="es-ES" sz="2400">
                <a:solidFill>
                  <a:schemeClr val="dk1"/>
                </a:solidFill>
              </a:rPr>
              <a:t> </a:t>
            </a:r>
            <a:r>
              <a:rPr b="1" lang="es-ES" sz="2400">
                <a:solidFill>
                  <a:schemeClr val="dk1"/>
                </a:solidFill>
              </a:rPr>
              <a:t>"Es lento y poco confiable.</a:t>
            </a:r>
            <a:r>
              <a:rPr lang="es-ES" sz="2400">
                <a:solidFill>
                  <a:schemeClr val="dk1"/>
                </a:solidFill>
              </a:rPr>
              <a:t> Pierdo mucho tiempo entendiendo como funciona. Es muy fácil cometer errores al inscribir un ramo."</a:t>
            </a:r>
            <a:endParaRPr sz="24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400">
                <a:solidFill>
                  <a:schemeClr val="dk1"/>
                </a:solidFill>
              </a:rPr>
              <a:t>Sobre el Chatbot Existente:</a:t>
            </a:r>
            <a:r>
              <a:rPr lang="es-ES" sz="2400">
                <a:solidFill>
                  <a:schemeClr val="dk1"/>
                </a:solidFill>
              </a:rPr>
              <a:t> </a:t>
            </a:r>
            <a:r>
              <a:rPr b="1" lang="es-ES" sz="2400">
                <a:solidFill>
                  <a:schemeClr val="dk1"/>
                </a:solidFill>
              </a:rPr>
              <a:t>"No ayuda con preguntas académicas.</a:t>
            </a:r>
            <a:r>
              <a:rPr lang="es-ES" sz="2400">
                <a:solidFill>
                  <a:schemeClr val="dk1"/>
                </a:solidFill>
              </a:rPr>
              <a:t> Si le pregunto por prerrequisitos específicos o reglas, no sabe nada. Termino haciendo una fila o buscando por mi cuenta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3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a662ab5b26_0_39"/>
          <p:cNvSpPr txBox="1"/>
          <p:nvPr/>
        </p:nvSpPr>
        <p:spPr>
          <a:xfrm>
            <a:off x="11599750" y="4924925"/>
            <a:ext cx="7944000" cy="5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b894c5047_0_15"/>
          <p:cNvSpPr txBox="1"/>
          <p:nvPr>
            <p:ph type="title"/>
          </p:nvPr>
        </p:nvSpPr>
        <p:spPr>
          <a:xfrm>
            <a:off x="4474450" y="4836050"/>
            <a:ext cx="987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</a:t>
            </a:r>
            <a:endParaRPr sz="7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9b894c5047_0_15"/>
          <p:cNvSpPr txBox="1"/>
          <p:nvPr>
            <p:ph idx="4294967295" type="sldNum"/>
          </p:nvPr>
        </p:nvSpPr>
        <p:spPr>
          <a:xfrm>
            <a:off x="16711533" y="10481754"/>
            <a:ext cx="339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b894c5047_0_20"/>
          <p:cNvSpPr txBox="1"/>
          <p:nvPr>
            <p:ph idx="1" type="body"/>
          </p:nvPr>
        </p:nvSpPr>
        <p:spPr>
          <a:xfrm>
            <a:off x="149800" y="1108625"/>
            <a:ext cx="486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4000"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9b894c5047_0_20"/>
          <p:cNvSpPr txBox="1"/>
          <p:nvPr/>
        </p:nvSpPr>
        <p:spPr>
          <a:xfrm>
            <a:off x="456425" y="2406875"/>
            <a:ext cx="19087200" cy="7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general:</a:t>
            </a:r>
            <a:b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Desarrollar un chatbot con inteligencia artificial que ayude a los estudiantes a realizar procesos académicos de manera rápida y automatizada.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 disponibilidad de asignaturas y cupos en tiempo real.</a:t>
            </a:r>
            <a:b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inscripción o simulación de ramos/secciones.</a:t>
            </a:r>
            <a:b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Resolver preguntas frecuentes y sobre reglamento.</a:t>
            </a:r>
            <a:b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 fechas importantes del calendario académico.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3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9b894c5047_0_20"/>
          <p:cNvSpPr txBox="1"/>
          <p:nvPr/>
        </p:nvSpPr>
        <p:spPr>
          <a:xfrm>
            <a:off x="11599750" y="4924925"/>
            <a:ext cx="7944000" cy="5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c0480607e_2_230"/>
          <p:cNvSpPr txBox="1"/>
          <p:nvPr>
            <p:ph type="title"/>
          </p:nvPr>
        </p:nvSpPr>
        <p:spPr>
          <a:xfrm>
            <a:off x="4474450" y="4836050"/>
            <a:ext cx="987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de negocios</a:t>
            </a:r>
            <a:endParaRPr sz="7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9c0480607e_2_230"/>
          <p:cNvSpPr txBox="1"/>
          <p:nvPr>
            <p:ph idx="4294967295" type="sldNum"/>
          </p:nvPr>
        </p:nvSpPr>
        <p:spPr>
          <a:xfrm>
            <a:off x="16711533" y="10481754"/>
            <a:ext cx="339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c0480607e_2_0"/>
          <p:cNvSpPr txBox="1"/>
          <p:nvPr>
            <p:ph idx="1" type="body"/>
          </p:nvPr>
        </p:nvSpPr>
        <p:spPr>
          <a:xfrm>
            <a:off x="108900" y="1155275"/>
            <a:ext cx="486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3600"/>
              <a:t>Plan de negocio</a:t>
            </a:r>
            <a:endParaRPr sz="3600"/>
          </a:p>
        </p:txBody>
      </p:sp>
      <p:sp>
        <p:nvSpPr>
          <p:cNvPr id="289" name="Google Shape;289;g39c0480607e_2_0"/>
          <p:cNvSpPr txBox="1"/>
          <p:nvPr/>
        </p:nvSpPr>
        <p:spPr>
          <a:xfrm>
            <a:off x="549000" y="2232550"/>
            <a:ext cx="18762000" cy="89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Cliente principal inicial: DuocUC (optimización de su actual chatbot académico).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Propuesta de valor: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Mejora la experiencia del estudiante.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Disminuye carga del personal administrativo.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Escalable y adaptable a otras instituciones educacionales.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Modelo de negocio: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Etapa 1: Implementación gratuita/prototipo en DuocUC (validación y pruebas).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Etapa 2: Licenciamiento por uso o suscripción anual (mantenimiento + mejoras + soporte).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Etapa 3: Expansión a otros institutos y universidades (versión personalizable).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Fuentes de ingreso: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Licencias institucionales.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Servicios de personalización e integración.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Mantenimiento y actualizaciones.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Proyección futura: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Incorporar analítica predictiva (ej. riesgo de deserción).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b="0" i="0" lang="es-ES" sz="27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Expandir hacia chatbot académico multi-institucional.</a:t>
            </a:r>
            <a:endParaRPr b="0" i="0" sz="27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g39c0480607e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99025" y="3455925"/>
            <a:ext cx="5011974" cy="40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b894c5047_0_0"/>
          <p:cNvSpPr txBox="1"/>
          <p:nvPr>
            <p:ph type="title"/>
          </p:nvPr>
        </p:nvSpPr>
        <p:spPr>
          <a:xfrm>
            <a:off x="4474450" y="4836050"/>
            <a:ext cx="987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 Gral.</a:t>
            </a:r>
            <a:endParaRPr sz="7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9b894c5047_0_0"/>
          <p:cNvSpPr txBox="1"/>
          <p:nvPr>
            <p:ph idx="4294967295" type="sldNum"/>
          </p:nvPr>
        </p:nvSpPr>
        <p:spPr>
          <a:xfrm>
            <a:off x="16711533" y="10481754"/>
            <a:ext cx="339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b894c5047_0_5"/>
          <p:cNvSpPr txBox="1"/>
          <p:nvPr>
            <p:ph idx="1" type="body"/>
          </p:nvPr>
        </p:nvSpPr>
        <p:spPr>
          <a:xfrm>
            <a:off x="149800" y="1108625"/>
            <a:ext cx="486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4200">
                <a:latin typeface="Calibri"/>
                <a:ea typeface="Calibri"/>
                <a:cs typeface="Calibri"/>
                <a:sym typeface="Calibri"/>
              </a:rPr>
              <a:t>Arquitectura General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9b894c5047_0_5"/>
          <p:cNvSpPr txBox="1"/>
          <p:nvPr/>
        </p:nvSpPr>
        <p:spPr>
          <a:xfrm>
            <a:off x="1006600" y="2406875"/>
            <a:ext cx="18090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9b894c5047_0_5"/>
          <p:cNvSpPr txBox="1"/>
          <p:nvPr/>
        </p:nvSpPr>
        <p:spPr>
          <a:xfrm>
            <a:off x="694325" y="2599575"/>
            <a:ext cx="9168600" cy="77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 End  —&gt;</a:t>
            </a:r>
            <a:b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600">
                <a:latin typeface="Calibri"/>
                <a:ea typeface="Calibri"/>
                <a:cs typeface="Calibri"/>
                <a:sym typeface="Calibri"/>
              </a:rPr>
              <a:t>      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latin typeface="Calibri"/>
                <a:ea typeface="Calibri"/>
                <a:cs typeface="Calibri"/>
                <a:sym typeface="Calibri"/>
              </a:rPr>
              <a:t>     Motor IA —&gt;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latin typeface="Calibri"/>
                <a:ea typeface="Calibri"/>
                <a:cs typeface="Calibri"/>
                <a:sym typeface="Calibri"/>
              </a:rPr>
              <a:t>Framework Orquestación —&gt;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latin typeface="Calibri"/>
                <a:ea typeface="Calibri"/>
                <a:cs typeface="Calibri"/>
                <a:sym typeface="Calibri"/>
              </a:rPr>
              <a:t>BD (SQL) —&gt;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g39b894c5047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750" y="2406875"/>
            <a:ext cx="3593528" cy="21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9b894c5047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1700" y="4895175"/>
            <a:ext cx="3708576" cy="1355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g39b894c5047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0875" y="6357875"/>
            <a:ext cx="2102074" cy="21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9b894c5047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4175" y="8338525"/>
            <a:ext cx="30861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9b894c5047_0_5"/>
          <p:cNvSpPr txBox="1"/>
          <p:nvPr/>
        </p:nvSpPr>
        <p:spPr>
          <a:xfrm>
            <a:off x="10602525" y="2810900"/>
            <a:ext cx="8778000" cy="76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latin typeface="Calibri"/>
                <a:ea typeface="Calibri"/>
                <a:cs typeface="Calibri"/>
                <a:sym typeface="Calibri"/>
              </a:rPr>
              <a:t>LLM —&gt; 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>
                <a:latin typeface="Calibri"/>
                <a:ea typeface="Calibri"/>
                <a:cs typeface="Calibri"/>
                <a:sym typeface="Calibri"/>
              </a:rPr>
              <a:t>Fuente Conocimiento → 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g39b894c5047_0_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90300" y="2406875"/>
            <a:ext cx="3593525" cy="2395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39b894c5047_0_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403950" y="5774200"/>
            <a:ext cx="3501748" cy="210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b894c5047_1_1"/>
          <p:cNvSpPr txBox="1"/>
          <p:nvPr>
            <p:ph type="title"/>
          </p:nvPr>
        </p:nvSpPr>
        <p:spPr>
          <a:xfrm>
            <a:off x="4474450" y="4836050"/>
            <a:ext cx="987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Sprints</a:t>
            </a:r>
            <a:endParaRPr sz="7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9b894c5047_1_1"/>
          <p:cNvSpPr txBox="1"/>
          <p:nvPr>
            <p:ph idx="4294967295" type="sldNum"/>
          </p:nvPr>
        </p:nvSpPr>
        <p:spPr>
          <a:xfrm>
            <a:off x="16711533" y="10481754"/>
            <a:ext cx="339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b894c5047_2_0"/>
          <p:cNvSpPr txBox="1"/>
          <p:nvPr>
            <p:ph idx="1" type="body"/>
          </p:nvPr>
        </p:nvSpPr>
        <p:spPr>
          <a:xfrm>
            <a:off x="0" y="856975"/>
            <a:ext cx="5222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3500">
                <a:latin typeface="Calibri"/>
                <a:ea typeface="Calibri"/>
                <a:cs typeface="Calibri"/>
                <a:sym typeface="Calibri"/>
              </a:rPr>
              <a:t>Sprint</a:t>
            </a:r>
            <a:endParaRPr sz="3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9b894c5047_2_0"/>
          <p:cNvSpPr txBox="1"/>
          <p:nvPr/>
        </p:nvSpPr>
        <p:spPr>
          <a:xfrm>
            <a:off x="61925" y="5513650"/>
            <a:ext cx="1943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3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9b894c5047_2_0"/>
          <p:cNvSpPr txBox="1"/>
          <p:nvPr/>
        </p:nvSpPr>
        <p:spPr>
          <a:xfrm>
            <a:off x="11599750" y="4924925"/>
            <a:ext cx="7944000" cy="5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g39b894c5047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8700" y="2465725"/>
            <a:ext cx="352425" cy="314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5" name="Google Shape;325;g39b894c5047_2_0"/>
          <p:cNvGraphicFramePr/>
          <p:nvPr/>
        </p:nvGraphicFramePr>
        <p:xfrm>
          <a:off x="55550" y="383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{039962EB-FCA3-4A52-AB76-8A72CDE4A62A}</a:tableStyleId>
              </a:tblPr>
              <a:tblGrid>
                <a:gridCol w="790575"/>
                <a:gridCol w="1476375"/>
                <a:gridCol w="1657350"/>
                <a:gridCol w="9029700"/>
                <a:gridCol w="7038975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Sprint</a:t>
                      </a:r>
                      <a:endParaRPr b="1"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Periodo de Tiempo</a:t>
                      </a:r>
                      <a:endParaRPr b="1"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Fases de la Carta Gantt</a:t>
                      </a:r>
                      <a:endParaRPr b="1"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Actividades Clave Incluidas</a:t>
                      </a:r>
                      <a:endParaRPr b="1"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Entregable/Foco Principal</a:t>
                      </a:r>
                      <a:endParaRPr b="1"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Sprint 1</a:t>
                      </a:r>
                      <a:endParaRPr b="1"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Semanas S1 a S4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Fase 1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Análisis de requerimientos y recopilación de datos. Diseño de flujos conversacionales y estructura del chatbot. Selección de herramientas y diseño de arquitectura.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Definición y Arquitectura:</a:t>
                      </a: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 Establecimiento de la base teórica y diseño estructural del proyecto.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Sprint 2</a:t>
                      </a:r>
                      <a:endParaRPr b="1"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Semanas S5 a S10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Fase 1 y Fase 2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Implementación inicial del chatbot (</a:t>
                      </a: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respuestas básicas + conexión SQL</a:t>
                      </a: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). Integración de IA y procesamiento de lenguaje natural (NLP).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Implementación y Núcleo Funcional:</a:t>
                      </a: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 Desarrollo del prototipo base y la integración de la inteligencia conversacional (NLP).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Sprint 3</a:t>
                      </a:r>
                      <a:endParaRPr b="1"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Semanas S11 a S15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Fase 2 y Fase 3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Pruebas y validación con casos simulados. Ajustes y mejoras. Documentación del proyecto (informe técnico).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Optimización y Documentación:</a:t>
                      </a: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 Ciclo de </a:t>
                      </a:r>
                      <a:r>
                        <a:rPr i="1" lang="es-ES" sz="2000">
                          <a:solidFill>
                            <a:srgbClr val="1B1C1D"/>
                          </a:solidFill>
                        </a:rPr>
                        <a:t>testing</a:t>
                      </a: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, refinamiento y preparación de la documentación final del proyecto.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Sprint 4</a:t>
                      </a:r>
                      <a:endParaRPr b="1"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Semanas S16 a S18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Fase 3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Presentación final del prototipo (PPT + demo).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rgbClr val="1B1C1D"/>
                          </a:solidFill>
                        </a:rPr>
                        <a:t>Cierre y Presentación:</a:t>
                      </a:r>
                      <a:r>
                        <a:rPr lang="es-ES" sz="2000">
                          <a:solidFill>
                            <a:srgbClr val="1B1C1D"/>
                          </a:solidFill>
                        </a:rPr>
                        <a:t> Entrega final del proyecto y demostración del prototipo terminado.</a:t>
                      </a:r>
                      <a:endParaRPr sz="20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662ab5b26_0_11"/>
          <p:cNvSpPr txBox="1"/>
          <p:nvPr>
            <p:ph type="title"/>
          </p:nvPr>
        </p:nvSpPr>
        <p:spPr>
          <a:xfrm>
            <a:off x="4474450" y="4836050"/>
            <a:ext cx="987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sz="7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a662ab5b26_0_11"/>
          <p:cNvSpPr txBox="1"/>
          <p:nvPr>
            <p:ph idx="4294967295" type="sldNum"/>
          </p:nvPr>
        </p:nvSpPr>
        <p:spPr>
          <a:xfrm>
            <a:off x="16711533" y="10481754"/>
            <a:ext cx="339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662ab5b26_0_20"/>
          <p:cNvSpPr txBox="1"/>
          <p:nvPr>
            <p:ph idx="1" type="body"/>
          </p:nvPr>
        </p:nvSpPr>
        <p:spPr>
          <a:xfrm>
            <a:off x="0" y="856975"/>
            <a:ext cx="5222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3500">
                <a:latin typeface="Calibri"/>
                <a:ea typeface="Calibri"/>
                <a:cs typeface="Calibri"/>
                <a:sym typeface="Calibri"/>
              </a:rPr>
              <a:t>Riesgos</a:t>
            </a:r>
            <a:endParaRPr sz="3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a662ab5b26_0_20"/>
          <p:cNvSpPr txBox="1"/>
          <p:nvPr/>
        </p:nvSpPr>
        <p:spPr>
          <a:xfrm>
            <a:off x="953400" y="2531450"/>
            <a:ext cx="17193900" cy="7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ES" sz="2600">
                <a:solidFill>
                  <a:schemeClr val="dk1"/>
                </a:solidFill>
              </a:rPr>
              <a:t>Seguridad y manejo de datos :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600">
                <a:solidFill>
                  <a:schemeClr val="dk1"/>
                </a:solidFill>
              </a:rPr>
              <a:t>Gestión de Riesgos: Marco Regulatorio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chemeClr val="dk1"/>
                </a:solidFill>
              </a:rPr>
              <a:t>La identificación y mitigación de los riesgos se realizó bajo un marco de cumplimiento estricto, esencial para un proyecto que maneja información sensible.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s-ES" sz="2000">
                <a:solidFill>
                  <a:schemeClr val="dk1"/>
                </a:solidFill>
              </a:rPr>
              <a:t>Alineamiento ISO/IEC 27001:</a:t>
            </a:r>
            <a:r>
              <a:rPr lang="es-ES" sz="2000">
                <a:solidFill>
                  <a:schemeClr val="dk1"/>
                </a:solidFill>
              </a:rPr>
              <a:t> La metodología de gestión de riesgos empleada (identificación, evaluación y mitigación de amenazas) sigue los principios de esta norma. Esto garantiza que abordamos la </a:t>
            </a:r>
            <a:r>
              <a:rPr b="1" lang="es-ES" sz="2000">
                <a:solidFill>
                  <a:schemeClr val="dk1"/>
                </a:solidFill>
              </a:rPr>
              <a:t>confidencialidad, integridad y disponibilidad</a:t>
            </a:r>
            <a:r>
              <a:rPr lang="es-ES" sz="2000">
                <a:solidFill>
                  <a:schemeClr val="dk1"/>
                </a:solidFill>
              </a:rPr>
              <a:t> del chatbot y su base de datos.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s-ES" sz="2000">
                <a:solidFill>
                  <a:schemeClr val="dk1"/>
                </a:solidFill>
              </a:rPr>
              <a:t>Cumplimiento de la Ley de Protección de Datos (Local/GDPR):</a:t>
            </a:r>
            <a:r>
              <a:rPr lang="es-ES" sz="2000">
                <a:solidFill>
                  <a:schemeClr val="dk1"/>
                </a:solidFill>
              </a:rPr>
              <a:t> Se </a:t>
            </a:r>
            <a:r>
              <a:rPr lang="es-ES" sz="2000">
                <a:solidFill>
                  <a:schemeClr val="dk1"/>
                </a:solidFill>
              </a:rPr>
              <a:t>prioriza</a:t>
            </a:r>
            <a:r>
              <a:rPr lang="es-ES" sz="2000">
                <a:solidFill>
                  <a:schemeClr val="dk1"/>
                </a:solidFill>
              </a:rPr>
              <a:t> la </a:t>
            </a:r>
            <a:r>
              <a:rPr b="1" lang="es-ES" sz="2000">
                <a:solidFill>
                  <a:schemeClr val="dk1"/>
                </a:solidFill>
              </a:rPr>
              <a:t>Gestión del Riesgo de Privacidad</a:t>
            </a:r>
            <a:r>
              <a:rPr lang="es-ES" sz="2000">
                <a:solidFill>
                  <a:schemeClr val="dk1"/>
                </a:solidFill>
              </a:rPr>
              <a:t>. Esto se traduce en medidas de mitigación como la </a:t>
            </a:r>
            <a:r>
              <a:rPr b="1" lang="es-ES" sz="2000">
                <a:solidFill>
                  <a:schemeClr val="dk1"/>
                </a:solidFill>
              </a:rPr>
              <a:t>encriptación</a:t>
            </a:r>
            <a:r>
              <a:rPr lang="es-ES" sz="2000">
                <a:solidFill>
                  <a:schemeClr val="dk1"/>
                </a:solidFill>
              </a:rPr>
              <a:t> y los </a:t>
            </a:r>
            <a:r>
              <a:rPr b="1" lang="es-ES" sz="2000">
                <a:solidFill>
                  <a:schemeClr val="dk1"/>
                </a:solidFill>
              </a:rPr>
              <a:t>controles de acceso estrictos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g3a662ab5b26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750" y="3275625"/>
            <a:ext cx="8597800" cy="24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b894c5047_0_70"/>
          <p:cNvSpPr txBox="1"/>
          <p:nvPr>
            <p:ph type="title"/>
          </p:nvPr>
        </p:nvSpPr>
        <p:spPr>
          <a:xfrm>
            <a:off x="4474450" y="4836050"/>
            <a:ext cx="987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7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sz="7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9b894c5047_0_70"/>
          <p:cNvSpPr txBox="1"/>
          <p:nvPr>
            <p:ph idx="4294967295" type="sldNum"/>
          </p:nvPr>
        </p:nvSpPr>
        <p:spPr>
          <a:xfrm>
            <a:off x="16711533" y="10481754"/>
            <a:ext cx="339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b894c5047_0_75"/>
          <p:cNvSpPr txBox="1"/>
          <p:nvPr>
            <p:ph idx="1" type="body"/>
          </p:nvPr>
        </p:nvSpPr>
        <p:spPr>
          <a:xfrm>
            <a:off x="0" y="856975"/>
            <a:ext cx="5222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3500"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3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9b894c5047_0_75"/>
          <p:cNvSpPr txBox="1"/>
          <p:nvPr/>
        </p:nvSpPr>
        <p:spPr>
          <a:xfrm>
            <a:off x="456425" y="2406875"/>
            <a:ext cx="1943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3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9b894c5047_0_75"/>
          <p:cNvSpPr txBox="1"/>
          <p:nvPr/>
        </p:nvSpPr>
        <p:spPr>
          <a:xfrm>
            <a:off x="11599750" y="4924925"/>
            <a:ext cx="7944000" cy="5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g39b894c5047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8700" y="2465725"/>
            <a:ext cx="3524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9b894c5047_0_75"/>
          <p:cNvSpPr txBox="1"/>
          <p:nvPr/>
        </p:nvSpPr>
        <p:spPr>
          <a:xfrm>
            <a:off x="871825" y="2525375"/>
            <a:ext cx="19023600" cy="7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900">
                <a:solidFill>
                  <a:schemeClr val="dk1"/>
                </a:solidFill>
              </a:rPr>
              <a:t>Conclusión: Arquitectura Sólida y Próximo Hito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>
                <a:solidFill>
                  <a:schemeClr val="dk1"/>
                </a:solidFill>
              </a:rPr>
              <a:t>El proyecto culmina con un </a:t>
            </a:r>
            <a:r>
              <a:rPr b="1" lang="es-ES" sz="2300">
                <a:solidFill>
                  <a:schemeClr val="dk1"/>
                </a:solidFill>
              </a:rPr>
              <a:t>prototipo de chatbot funcional</a:t>
            </a:r>
            <a:r>
              <a:rPr lang="es-ES" sz="2300">
                <a:solidFill>
                  <a:schemeClr val="dk1"/>
                </a:solidFill>
              </a:rPr>
              <a:t> y una arquitectura tecnológica </a:t>
            </a:r>
            <a:r>
              <a:rPr b="1" lang="es-ES" sz="2300">
                <a:solidFill>
                  <a:schemeClr val="dk1"/>
                </a:solidFill>
              </a:rPr>
              <a:t>estable y escalable</a:t>
            </a:r>
            <a:r>
              <a:rPr lang="es-ES" sz="2300">
                <a:solidFill>
                  <a:schemeClr val="dk1"/>
                </a:solidFill>
              </a:rPr>
              <a:t> (Streamlit, LangChain, Groq API, SQLite), demostrando la viabilidad de la solución.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300">
                <a:solidFill>
                  <a:schemeClr val="dk1"/>
                </a:solidFill>
              </a:rPr>
              <a:t>Se aplican las principales competencias laborales y habilidades aprendidas durante la carrera.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>
                <a:solidFill>
                  <a:schemeClr val="dk1"/>
                </a:solidFill>
              </a:rPr>
              <a:t>El principal logro es haber sentado las bases de un sistema inteligente capaz de manejar la complejidad de la normativa académica.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ES" sz="2500">
                <a:solidFill>
                  <a:schemeClr val="dk1"/>
                </a:solidFill>
              </a:rPr>
              <a:t> Potencial Demostrado y Siguiente Paso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-ES" sz="2300">
                <a:solidFill>
                  <a:schemeClr val="dk1"/>
                </a:solidFill>
              </a:rPr>
              <a:t>Fundamentos Sólidos:</a:t>
            </a:r>
            <a:r>
              <a:rPr lang="es-ES" sz="2300">
                <a:solidFill>
                  <a:schemeClr val="dk1"/>
                </a:solidFill>
              </a:rPr>
              <a:t> La implementación inicial prueba que podemos gestionar consultas en lenguaje natural y acceder a datos estructurados.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-ES" sz="2300">
                <a:solidFill>
                  <a:schemeClr val="dk1"/>
                </a:solidFill>
              </a:rPr>
              <a:t>Próximo Hito:</a:t>
            </a:r>
            <a:r>
              <a:rPr lang="es-ES" sz="2300">
                <a:solidFill>
                  <a:schemeClr val="dk1"/>
                </a:solidFill>
              </a:rPr>
              <a:t> Nuestro objetivo final es la </a:t>
            </a:r>
            <a:r>
              <a:rPr b="1" lang="es-ES" sz="2300">
                <a:solidFill>
                  <a:schemeClr val="dk1"/>
                </a:solidFill>
              </a:rPr>
              <a:t>Unificación total de la Toma de Ramos</a:t>
            </a:r>
            <a:r>
              <a:rPr lang="es-ES" sz="2300">
                <a:solidFill>
                  <a:schemeClr val="dk1"/>
                </a:solidFill>
              </a:rPr>
              <a:t> dentro del Chatbot.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-ES" sz="2300">
                <a:solidFill>
                  <a:schemeClr val="dk1"/>
                </a:solidFill>
              </a:rPr>
              <a:t>Valor Futuro:</a:t>
            </a:r>
            <a:r>
              <a:rPr lang="es-ES" sz="2300">
                <a:solidFill>
                  <a:schemeClr val="dk1"/>
                </a:solidFill>
              </a:rPr>
              <a:t> La plataforma actual está lista para la integración final que convertirá al chatbot en la herramienta única para la gestión académica, </a:t>
            </a:r>
            <a:r>
              <a:rPr b="1" lang="es-ES" sz="2300">
                <a:solidFill>
                  <a:schemeClr val="dk1"/>
                </a:solidFill>
              </a:rPr>
              <a:t>maximizando la eficiencia y la experiencia del estudiante</a:t>
            </a:r>
            <a:r>
              <a:rPr lang="es-ES" sz="2300">
                <a:solidFill>
                  <a:schemeClr val="dk1"/>
                </a:solidFill>
              </a:rPr>
              <a:t> con la automatización del proceso de inscripción.</a:t>
            </a:r>
            <a:endParaRPr sz="23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2021-04-02T01:36:00Z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2021-03-30T00:00:00Z</vt:filetime>
  </property>
  <property fmtid="{D5CDD505-2E9C-101B-9397-08002B2CF9AE}" pid="3" name="Creator">
    <vt:lpwstr>Adobe Illustrator 25.2 (Macintosh)</vt:lpwstr>
  </property>
  <property fmtid="{D5CDD505-2E9C-101B-9397-08002B2CF9AE}" pid="4" name="LastSaved">
    <vt:filetime>2021-04-02T00:00:00Z</vt:filetime>
  </property>
</Properties>
</file>